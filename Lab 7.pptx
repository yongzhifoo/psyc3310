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7"/>
  </p:notesMasterIdLst>
  <p:sldIdLst>
    <p:sldId id="285" r:id="rId2"/>
    <p:sldId id="286" r:id="rId3"/>
    <p:sldId id="257" r:id="rId4"/>
    <p:sldId id="287" r:id="rId5"/>
    <p:sldId id="288" r:id="rId6"/>
    <p:sldId id="289" r:id="rId7"/>
    <p:sldId id="290" r:id="rId8"/>
    <p:sldId id="291" r:id="rId9"/>
    <p:sldId id="293" r:id="rId10"/>
    <p:sldId id="294" r:id="rId11"/>
    <p:sldId id="295" r:id="rId12"/>
    <p:sldId id="296" r:id="rId13"/>
    <p:sldId id="297" r:id="rId14"/>
    <p:sldId id="300" r:id="rId15"/>
    <p:sldId id="30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96"/>
    <p:restoredTop sz="99497" autoAdjust="0"/>
  </p:normalViewPr>
  <p:slideViewPr>
    <p:cSldViewPr snapToGrid="0" snapToObjects="1">
      <p:cViewPr>
        <p:scale>
          <a:sx n="140" d="100"/>
          <a:sy n="140" d="100"/>
        </p:scale>
        <p:origin x="32" y="6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425AE-AD16-5942-84CD-3179FB7C9CF5}" type="datetimeFigureOut">
              <a:rPr lang="en-US" smtClean="0"/>
              <a:t>10/5/17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15CFF-B998-1A4F-8D57-043D3583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750A6-B02F-594D-B093-53C8AEB54CA1}" type="datetimeFigureOut">
              <a:rPr lang="en-US" smtClean="0"/>
              <a:t>10/5/17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A332D-1AED-144E-9053-6E1AB4C302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83915" cy="28617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4368800"/>
            <a:ext cx="4457700" cy="248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21465" y="2472267"/>
            <a:ext cx="7357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smtClean="0">
                <a:solidFill>
                  <a:schemeClr val="bg2">
                    <a:lumMod val="50000"/>
                  </a:schemeClr>
                </a:solidFill>
                <a:latin typeface="Arial Narrow" charset="0"/>
                <a:ea typeface="Arial Narrow" charset="0"/>
                <a:cs typeface="Arial Narrow" charset="0"/>
              </a:rPr>
              <a:t>EMOTION SCIENCE</a:t>
            </a:r>
            <a:endParaRPr lang="en-US" sz="7200" b="1" dirty="0">
              <a:solidFill>
                <a:schemeClr val="bg2">
                  <a:lumMod val="50000"/>
                </a:schemeClr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3557937"/>
            <a:ext cx="12192000" cy="23463"/>
          </a:xfrm>
          <a:prstGeom prst="line">
            <a:avLst/>
          </a:prstGeom>
          <a:ln w="47625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46185" y="3672596"/>
            <a:ext cx="1699632" cy="87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Zapfino" charset="0"/>
                <a:ea typeface="Zapfino" charset="0"/>
                <a:cs typeface="Zapfino" charset="0"/>
              </a:rPr>
              <a:t>Psyc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Zapfino" charset="0"/>
                <a:ea typeface="Zapfino" charset="0"/>
                <a:cs typeface="Zapfino" charset="0"/>
              </a:rPr>
              <a:t> 3310</a:t>
            </a:r>
            <a:endParaRPr lang="en-US" dirty="0">
              <a:solidFill>
                <a:schemeClr val="bg2">
                  <a:lumMod val="50000"/>
                </a:schemeClr>
              </a:solidFill>
              <a:latin typeface="Zapfino" charset="0"/>
              <a:ea typeface="Zapfino" charset="0"/>
              <a:cs typeface="Zapfin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05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635" y="4640254"/>
            <a:ext cx="8915400" cy="1726106"/>
          </a:xfrm>
        </p:spPr>
        <p:txBody>
          <a:bodyPr>
            <a:noAutofit/>
          </a:bodyPr>
          <a:lstStyle/>
          <a:p>
            <a:pPr algn="l"/>
            <a: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/>
            </a:r>
            <a:br>
              <a:rPr lang="en-US" sz="5400" b="1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Lab 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7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/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Results and Discussion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898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Results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you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analysed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your data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Main findings from those analyses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Don’t draw conclusions in the results section</a:t>
            </a: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But do explain what a specific result means. 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For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instance, say we are looking at the relationship between coffee consumption and heart palpitations. 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can say something like “there was a significant correlation between the Boston Coffee Index and the HPS,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indicating that higher coffee consumption is associated with more heart palpitations.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” 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shouldn’t, however, go on to speculate about the direction of the causative relationship in the results section, or talk about what this means for health.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21424" y="4517136"/>
            <a:ext cx="3895344" cy="594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72768" y="4796028"/>
            <a:ext cx="5404104" cy="2971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32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Results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Keep hypothesis and rationale in mind while writing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Primary focus = info relevant to hypotheses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Only include other info/analysis if important and related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03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Results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Heading “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Results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” centered and boldface, first letter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capitalised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, on next line after Methods section ends.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Start with normality of data and outliers.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Then address hypothesis/hypotheses in order.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346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Results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Guide reader throughout 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If calculation of a score isn’t obvious/provided in method section, detail it in results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Explain why you are doing each step</a:t>
            </a:r>
          </a:p>
          <a:p>
            <a:pPr lvl="1">
              <a:buFont typeface="Arial" charset="0"/>
              <a:buChar char="•"/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“we examined whether data were suitable for parametric analysis by testing for normality</a:t>
            </a:r>
            <a:r>
              <a:rPr lang="is-IS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…” “To examine the relationship between x and y we conducted a Pearson’s correlation...”</a:t>
            </a:r>
            <a:endParaRPr lang="is-I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614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Results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Can present results in words only, or add tables/figures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Only use tables/figures if they make things clearer!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Tables/figures MUST be introduced in the text! 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 often will present the data in a table/figure before an analysis, like this:</a:t>
            </a:r>
          </a:p>
          <a:p>
            <a:pPr lvl="1">
              <a:buFont typeface="Arial" charset="0"/>
              <a:buChar char="•"/>
            </a:pPr>
            <a:r>
              <a:rPr lang="en-AU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“Mean </a:t>
            </a:r>
            <a:r>
              <a:rPr lang="en-AU" sz="22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impatience </a:t>
            </a:r>
            <a:r>
              <a:rPr lang="en-AU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levels are shown in Figure 2. </a:t>
            </a:r>
            <a:r>
              <a:rPr lang="en-AU" sz="2200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Impatience </a:t>
            </a:r>
            <a:r>
              <a:rPr lang="en-AU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was higher than baseline in the no doughnuts condition, and lower than baseline in the many doughnuts condition. To test if these differences were statistically significant, we ran a one-way ANOVA</a:t>
            </a:r>
            <a:r>
              <a:rPr lang="is-IS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…”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339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Discussion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Head this section with the word “</a:t>
            </a:r>
            <a:r>
              <a:rPr lang="en-AU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Discussion</a:t>
            </a: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” </a:t>
            </a:r>
            <a:r>
              <a:rPr lang="en-AU" dirty="0" err="1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centered</a:t>
            </a: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, in boldface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Use present tense in this section: presenting conclusions rather than describing what you have already done</a:t>
            </a:r>
          </a:p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Present info in order of importance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And be careful about length – more words suggests that something is important!</a:t>
            </a:r>
            <a:endParaRPr lang="is-I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611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Discussion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Begin with clear summary of what you found in relation to hypotheses, </a:t>
            </a:r>
            <a:endParaRPr lang="en-AU" dirty="0" smtClean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AU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</a:t>
            </a: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. “We failed to find a significant association between </a:t>
            </a:r>
            <a:r>
              <a:rPr lang="en-AU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resemblance to anger and perceived strength, contrary to our prediction that they would be positively associated.”</a:t>
            </a:r>
            <a:endParaRPr lang="is-IS" sz="20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55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Discussion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 how results contribute to body of research on </a:t>
            </a:r>
            <a:r>
              <a:rPr lang="en-AU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facial emotional expressions.</a:t>
            </a:r>
            <a:endParaRPr lang="is-IS" sz="24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Do your results support a particular theory? Do they agree with or contrast with previous findings?</a:t>
            </a:r>
          </a:p>
          <a:p>
            <a:pPr>
              <a:buFont typeface="Arial" charset="0"/>
              <a:buChar char="•"/>
            </a:pPr>
            <a:r>
              <a:rPr lang="en-US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 any factors impacting interpretation of your results</a:t>
            </a: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E.g. if you have a null result, can you rule out some explanations?</a:t>
            </a:r>
          </a:p>
          <a:p>
            <a:pPr lvl="2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Did you have sufficient power? Were tasks reliable? Was there enough variation in measures?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20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Discussion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Limitations: and </a:t>
            </a:r>
            <a:r>
              <a:rPr lang="en-AU" b="1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how do they affect your conclusions?</a:t>
            </a:r>
          </a:p>
          <a:p>
            <a:pPr lvl="1">
              <a:buFont typeface="Arial" charset="0"/>
              <a:buChar char="•"/>
            </a:pPr>
            <a:r>
              <a:rPr lang="en-AU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Be specific! </a:t>
            </a:r>
          </a:p>
          <a:p>
            <a:pPr lvl="1">
              <a:buFont typeface="Arial" charset="0"/>
              <a:buChar char="•"/>
            </a:pPr>
            <a:r>
              <a:rPr lang="en-AU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Only discuss limitations that affect interpretation of the data</a:t>
            </a:r>
          </a:p>
          <a:p>
            <a:pPr lvl="2">
              <a:buFont typeface="Arial" charset="0"/>
              <a:buChar char="•"/>
            </a:pPr>
            <a:r>
              <a:rPr lang="en-AU" sz="22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Low power isn’t a big problem if you found significant results!</a:t>
            </a:r>
            <a:endParaRPr lang="en-US" sz="22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lvl="1">
              <a:buFont typeface="Arial" charset="0"/>
              <a:buChar char="•"/>
            </a:pPr>
            <a:r>
              <a:rPr lang="en-US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State how future research might overcome these limitations</a:t>
            </a:r>
          </a:p>
          <a:p>
            <a:pPr lvl="1">
              <a:buFont typeface="Arial" charset="0"/>
              <a:buChar char="•"/>
            </a:pPr>
            <a:r>
              <a:rPr lang="en-US" sz="2600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Try not to say that your research is rubbish! </a:t>
            </a:r>
            <a:endParaRPr lang="en-US" sz="2200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02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Discussion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 are future directions for research?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Often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follow naturally from limitations</a:t>
            </a:r>
          </a:p>
          <a:p>
            <a:pPr lvl="1">
              <a:buFont typeface="Arial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Should follow directly from present study, not just vaguely related questions</a:t>
            </a: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385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Discussion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Finish with very brief summary of overall conclusions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Sum up main findings of your research and their implications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Give reader concise understanding of the theoretical consequences of the results</a:t>
            </a:r>
          </a:p>
          <a:p>
            <a:pPr lvl="1">
              <a:buFont typeface="Arial" charset="0"/>
              <a:buChar char="•"/>
            </a:pPr>
            <a:r>
              <a:rPr lang="en-AU" dirty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Nice to end on comment on importance of findings/contribution to knowledge (but don’t get too grand!)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474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Your proposal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	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Common comment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Big theoretical issue: given that importance of emotional expressions to social communication, why are they expressed in their particular forms? 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Arbitrary?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Functional?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Remember the 4 big questions in Introduction? 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Why is a question important?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 has been done?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 needs to be done? </a:t>
            </a:r>
          </a:p>
          <a:p>
            <a:pPr lvl="2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What are we doing?  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>
              <a:buFont typeface="Arial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277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Next week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Data analysis (Hurrah!!)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 will book a computer room and we will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analyse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your data. 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 will send out an email once I have confirmed the venue. 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So please remember to check your email. </a:t>
            </a:r>
            <a:endParaRPr lang="en-US" dirty="0">
              <a:solidFill>
                <a:schemeClr val="bg2">
                  <a:lumMod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327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</TotalTime>
  <Words>710</Words>
  <Application>Microsoft Macintosh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 Narrow</vt:lpstr>
      <vt:lpstr>Calibri</vt:lpstr>
      <vt:lpstr>Calibri Light</vt:lpstr>
      <vt:lpstr>Helvetica</vt:lpstr>
      <vt:lpstr>Zapfino</vt:lpstr>
      <vt:lpstr>Arial</vt:lpstr>
      <vt:lpstr>Office Theme</vt:lpstr>
      <vt:lpstr>PowerPoint Presentation</vt:lpstr>
      <vt:lpstr> Lab 7  Results and Discussion</vt:lpstr>
      <vt:lpstr>Results </vt:lpstr>
      <vt:lpstr>Results </vt:lpstr>
      <vt:lpstr>Results </vt:lpstr>
      <vt:lpstr>Results </vt:lpstr>
      <vt:lpstr>Results </vt:lpstr>
      <vt:lpstr>Discussion </vt:lpstr>
      <vt:lpstr>Discussion </vt:lpstr>
      <vt:lpstr>Discussion </vt:lpstr>
      <vt:lpstr>Discussion </vt:lpstr>
      <vt:lpstr>Discussion </vt:lpstr>
      <vt:lpstr>Discussion </vt:lpstr>
      <vt:lpstr>Your proposal </vt:lpstr>
      <vt:lpstr>Next week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PSYC3310</dc:title>
  <dc:creator>Nichola Burton</dc:creator>
  <cp:lastModifiedBy>Yong Foo</cp:lastModifiedBy>
  <cp:revision>116</cp:revision>
  <dcterms:created xsi:type="dcterms:W3CDTF">2016-08-05T09:11:16Z</dcterms:created>
  <dcterms:modified xsi:type="dcterms:W3CDTF">2017-10-05T08:21:13Z</dcterms:modified>
</cp:coreProperties>
</file>