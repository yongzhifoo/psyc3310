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2" r:id="rId4"/>
    <p:sldId id="258" r:id="rId5"/>
    <p:sldId id="259" r:id="rId6"/>
    <p:sldId id="260" r:id="rId7"/>
    <p:sldId id="271" r:id="rId8"/>
    <p:sldId id="270" r:id="rId9"/>
    <p:sldId id="276" r:id="rId10"/>
    <p:sldId id="275" r:id="rId11"/>
    <p:sldId id="262" r:id="rId12"/>
    <p:sldId id="263" r:id="rId13"/>
    <p:sldId id="264" r:id="rId14"/>
    <p:sldId id="265" r:id="rId15"/>
    <p:sldId id="267" r:id="rId16"/>
    <p:sldId id="268" r:id="rId17"/>
    <p:sldId id="269" r:id="rId18"/>
    <p:sldId id="273" r:id="rId19"/>
    <p:sldId id="277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8"/>
    <p:restoredTop sz="94684"/>
  </p:normalViewPr>
  <p:slideViewPr>
    <p:cSldViewPr snapToGrid="0" snapToObjects="1">
      <p:cViewPr varScale="1">
        <p:scale>
          <a:sx n="150" d="100"/>
          <a:sy n="150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975C2-61FB-1741-A473-2F5F88D57820}" type="datetimeFigureOut">
              <a:rPr lang="en-US" smtClean="0"/>
              <a:t>8/31/17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EE5DA-E472-AF49-A637-39AC7F247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12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EE5DA-E472-AF49-A637-39AC7F24739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19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The Facelab Guide to Testing Participants</a:t>
            </a:r>
            <a:endParaRPr lang="en-AU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C828D35D-50DE-E44B-8792-E09C03DA1227}" type="datetime4">
              <a:rPr lang="en-AU" smtClean="0"/>
              <a:t>31 August 2017</a:t>
            </a:fld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098CA-8240-7C4E-A195-878138E1C299}" type="slidenum">
              <a:rPr lang="en-AU" smtClean="0"/>
              <a:pPr/>
              <a:t>15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2725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The Facelab Guide to Testing Participants</a:t>
            </a:r>
            <a:endParaRPr lang="en-AU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605C9CC-BDD7-F645-8B89-943CA45875AC}" type="datetime4">
              <a:rPr lang="en-AU" smtClean="0"/>
              <a:t>31 August 2017</a:t>
            </a:fld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95098CA-8240-7C4E-A195-878138E1C299}" type="slidenum">
              <a:rPr lang="en-AU" smtClean="0"/>
              <a:pPr/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3415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9810D-C7FE-C24E-959E-4265ABEE345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97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Take general question</a:t>
            </a:r>
            <a:r>
              <a:rPr lang="en-US" baseline="0" dirty="0" smtClean="0"/>
              <a:t>s, then go around to answer questions specific to each group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EE5DA-E472-AF49-A637-39AC7F24739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05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95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86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2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21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7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67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9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3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6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78ABF-42BC-1D4F-807D-153CE7903F8B}" type="datetimeFigureOut">
              <a:rPr lang="en-US" smtClean="0"/>
              <a:t>8/31/17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4A41B-9431-FF4C-BCAB-FF91AFC87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2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83915" cy="28617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4368800"/>
            <a:ext cx="4457700" cy="248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21465" y="2472267"/>
            <a:ext cx="7357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chemeClr val="bg2">
                    <a:lumMod val="50000"/>
                  </a:schemeClr>
                </a:solidFill>
                <a:latin typeface="Arial Narrow" charset="0"/>
                <a:ea typeface="Arial Narrow" charset="0"/>
                <a:cs typeface="Arial Narrow" charset="0"/>
              </a:rPr>
              <a:t>EMOTION SCIENCE</a:t>
            </a:r>
            <a:endParaRPr lang="en-US" sz="7200" b="1" dirty="0">
              <a:solidFill>
                <a:schemeClr val="bg2">
                  <a:lumMod val="50000"/>
                </a:schemeClr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3557937"/>
            <a:ext cx="12192000" cy="23463"/>
          </a:xfrm>
          <a:prstGeom prst="line">
            <a:avLst/>
          </a:prstGeom>
          <a:ln w="47625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46185" y="3672596"/>
            <a:ext cx="1699632" cy="87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Zapfino" charset="0"/>
                <a:ea typeface="Zapfino" charset="0"/>
                <a:cs typeface="Zapfino" charset="0"/>
              </a:rPr>
              <a:t>Psyc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Zapfino" charset="0"/>
                <a:ea typeface="Zapfino" charset="0"/>
                <a:cs typeface="Zapfino" charset="0"/>
              </a:rPr>
              <a:t> 3310</a:t>
            </a:r>
            <a:endParaRPr lang="en-US" dirty="0">
              <a:solidFill>
                <a:schemeClr val="bg2">
                  <a:lumMod val="50000"/>
                </a:schemeClr>
              </a:solidFill>
              <a:latin typeface="Zapfino" charset="0"/>
              <a:ea typeface="Zapfino" charset="0"/>
              <a:cs typeface="Zapfino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8008" y="5899104"/>
            <a:ext cx="5005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Tutor: Yong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Zhi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Foo 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yong.foo@uwa.edu.au (no regular office hours)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91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635" y="3975234"/>
            <a:ext cx="8915400" cy="1726106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/>
            </a:r>
            <a:b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Lab 4 </a:t>
            </a:r>
            <a:r>
              <a:rPr lang="en-US" b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b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en-US" b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Recruiting and Testing 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Rectangle 3"/>
          <p:cNvSpPr/>
          <p:nvPr/>
        </p:nvSpPr>
        <p:spPr>
          <a:xfrm rot="20986969">
            <a:off x="5083980" y="1769652"/>
            <a:ext cx="69155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bg2">
                    <a:lumMod val="50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AKA “How </a:t>
            </a:r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not to screw up </a:t>
            </a:r>
            <a:r>
              <a:rPr lang="en-US" sz="3600" b="1" dirty="0" smtClean="0">
                <a:solidFill>
                  <a:schemeClr val="bg2">
                    <a:lumMod val="50000"/>
                  </a:schemeClr>
                </a:solidFill>
                <a:latin typeface="Garamond" charset="0"/>
                <a:ea typeface="Garamond" charset="0"/>
                <a:cs typeface="Garamond" charset="0"/>
              </a:rPr>
              <a:t>your study!!!”</a:t>
            </a:r>
            <a:endParaRPr lang="en-US" sz="3600" b="1" dirty="0">
              <a:solidFill>
                <a:schemeClr val="bg2">
                  <a:lumMod val="50000"/>
                </a:schemeClr>
              </a:solidFill>
              <a:latin typeface="Garamond" charset="0"/>
              <a:ea typeface="Garamond" charset="0"/>
              <a:cs typeface="Garamond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4157404" y="3051208"/>
            <a:ext cx="789981" cy="924026"/>
          </a:xfrm>
          <a:custGeom>
            <a:avLst/>
            <a:gdLst>
              <a:gd name="connsiteX0" fmla="*/ 789981 w 789981"/>
              <a:gd name="connsiteY0" fmla="*/ 0 h 924026"/>
              <a:gd name="connsiteX1" fmla="*/ 674478 w 789981"/>
              <a:gd name="connsiteY1" fmla="*/ 38501 h 924026"/>
              <a:gd name="connsiteX2" fmla="*/ 635977 w 789981"/>
              <a:gd name="connsiteY2" fmla="*/ 48127 h 924026"/>
              <a:gd name="connsiteX3" fmla="*/ 597476 w 789981"/>
              <a:gd name="connsiteY3" fmla="*/ 57752 h 924026"/>
              <a:gd name="connsiteX4" fmla="*/ 558975 w 789981"/>
              <a:gd name="connsiteY4" fmla="*/ 77003 h 924026"/>
              <a:gd name="connsiteX5" fmla="*/ 501223 w 789981"/>
              <a:gd name="connsiteY5" fmla="*/ 96253 h 924026"/>
              <a:gd name="connsiteX6" fmla="*/ 433847 w 789981"/>
              <a:gd name="connsiteY6" fmla="*/ 144379 h 924026"/>
              <a:gd name="connsiteX7" fmla="*/ 356844 w 789981"/>
              <a:gd name="connsiteY7" fmla="*/ 221381 h 924026"/>
              <a:gd name="connsiteX8" fmla="*/ 308718 w 789981"/>
              <a:gd name="connsiteY8" fmla="*/ 279133 h 924026"/>
              <a:gd name="connsiteX9" fmla="*/ 289468 w 789981"/>
              <a:gd name="connsiteY9" fmla="*/ 317634 h 924026"/>
              <a:gd name="connsiteX10" fmla="*/ 279842 w 789981"/>
              <a:gd name="connsiteY10" fmla="*/ 356135 h 924026"/>
              <a:gd name="connsiteX11" fmla="*/ 260592 w 789981"/>
              <a:gd name="connsiteY11" fmla="*/ 423512 h 924026"/>
              <a:gd name="connsiteX12" fmla="*/ 270217 w 789981"/>
              <a:gd name="connsiteY12" fmla="*/ 519765 h 924026"/>
              <a:gd name="connsiteX13" fmla="*/ 279842 w 789981"/>
              <a:gd name="connsiteY13" fmla="*/ 548640 h 924026"/>
              <a:gd name="connsiteX14" fmla="*/ 366470 w 789981"/>
              <a:gd name="connsiteY14" fmla="*/ 616017 h 924026"/>
              <a:gd name="connsiteX15" fmla="*/ 414596 w 789981"/>
              <a:gd name="connsiteY15" fmla="*/ 625643 h 924026"/>
              <a:gd name="connsiteX16" fmla="*/ 539724 w 789981"/>
              <a:gd name="connsiteY16" fmla="*/ 596767 h 924026"/>
              <a:gd name="connsiteX17" fmla="*/ 558975 w 789981"/>
              <a:gd name="connsiteY17" fmla="*/ 567891 h 924026"/>
              <a:gd name="connsiteX18" fmla="*/ 568600 w 789981"/>
              <a:gd name="connsiteY18" fmla="*/ 539015 h 924026"/>
              <a:gd name="connsiteX19" fmla="*/ 558975 w 789981"/>
              <a:gd name="connsiteY19" fmla="*/ 510139 h 924026"/>
              <a:gd name="connsiteX20" fmla="*/ 539724 w 789981"/>
              <a:gd name="connsiteY20" fmla="*/ 481264 h 924026"/>
              <a:gd name="connsiteX21" fmla="*/ 481973 w 789981"/>
              <a:gd name="connsiteY21" fmla="*/ 452388 h 924026"/>
              <a:gd name="connsiteX22" fmla="*/ 279842 w 789981"/>
              <a:gd name="connsiteY22" fmla="*/ 462013 h 924026"/>
              <a:gd name="connsiteX23" fmla="*/ 222091 w 789981"/>
              <a:gd name="connsiteY23" fmla="*/ 481264 h 924026"/>
              <a:gd name="connsiteX24" fmla="*/ 183590 w 789981"/>
              <a:gd name="connsiteY24" fmla="*/ 510139 h 924026"/>
              <a:gd name="connsiteX25" fmla="*/ 125838 w 789981"/>
              <a:gd name="connsiteY25" fmla="*/ 548640 h 924026"/>
              <a:gd name="connsiteX26" fmla="*/ 68087 w 789981"/>
              <a:gd name="connsiteY26" fmla="*/ 654518 h 924026"/>
              <a:gd name="connsiteX27" fmla="*/ 58461 w 789981"/>
              <a:gd name="connsiteY27" fmla="*/ 683394 h 924026"/>
              <a:gd name="connsiteX28" fmla="*/ 39211 w 789981"/>
              <a:gd name="connsiteY28" fmla="*/ 712270 h 924026"/>
              <a:gd name="connsiteX29" fmla="*/ 10335 w 789981"/>
              <a:gd name="connsiteY29" fmla="*/ 808523 h 924026"/>
              <a:gd name="connsiteX30" fmla="*/ 710 w 789981"/>
              <a:gd name="connsiteY30" fmla="*/ 866274 h 924026"/>
              <a:gd name="connsiteX31" fmla="*/ 710 w 789981"/>
              <a:gd name="connsiteY31" fmla="*/ 924026 h 924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89981" h="924026">
                <a:moveTo>
                  <a:pt x="789981" y="0"/>
                </a:moveTo>
                <a:cubicBezTo>
                  <a:pt x="727814" y="31084"/>
                  <a:pt x="765403" y="15769"/>
                  <a:pt x="674478" y="38501"/>
                </a:cubicBezTo>
                <a:lnTo>
                  <a:pt x="635977" y="48127"/>
                </a:lnTo>
                <a:lnTo>
                  <a:pt x="597476" y="57752"/>
                </a:lnTo>
                <a:cubicBezTo>
                  <a:pt x="584642" y="64169"/>
                  <a:pt x="572297" y="71674"/>
                  <a:pt x="558975" y="77003"/>
                </a:cubicBezTo>
                <a:cubicBezTo>
                  <a:pt x="540134" y="84539"/>
                  <a:pt x="501223" y="96253"/>
                  <a:pt x="501223" y="96253"/>
                </a:cubicBezTo>
                <a:cubicBezTo>
                  <a:pt x="481964" y="109093"/>
                  <a:pt x="449758" y="129794"/>
                  <a:pt x="433847" y="144379"/>
                </a:cubicBezTo>
                <a:cubicBezTo>
                  <a:pt x="407089" y="168907"/>
                  <a:pt x="376979" y="191178"/>
                  <a:pt x="356844" y="221381"/>
                </a:cubicBezTo>
                <a:cubicBezTo>
                  <a:pt x="330043" y="261583"/>
                  <a:pt x="345774" y="242077"/>
                  <a:pt x="308718" y="279133"/>
                </a:cubicBezTo>
                <a:cubicBezTo>
                  <a:pt x="302301" y="291967"/>
                  <a:pt x="294506" y="304199"/>
                  <a:pt x="289468" y="317634"/>
                </a:cubicBezTo>
                <a:cubicBezTo>
                  <a:pt x="284823" y="330020"/>
                  <a:pt x="283476" y="343415"/>
                  <a:pt x="279842" y="356135"/>
                </a:cubicBezTo>
                <a:cubicBezTo>
                  <a:pt x="252236" y="452755"/>
                  <a:pt x="290668" y="303205"/>
                  <a:pt x="260592" y="423512"/>
                </a:cubicBezTo>
                <a:cubicBezTo>
                  <a:pt x="263800" y="455596"/>
                  <a:pt x="265314" y="487896"/>
                  <a:pt x="270217" y="519765"/>
                </a:cubicBezTo>
                <a:cubicBezTo>
                  <a:pt x="271760" y="529793"/>
                  <a:pt x="274214" y="540198"/>
                  <a:pt x="279842" y="548640"/>
                </a:cubicBezTo>
                <a:cubicBezTo>
                  <a:pt x="293090" y="568512"/>
                  <a:pt x="351760" y="613075"/>
                  <a:pt x="366470" y="616017"/>
                </a:cubicBezTo>
                <a:lnTo>
                  <a:pt x="414596" y="625643"/>
                </a:lnTo>
                <a:cubicBezTo>
                  <a:pt x="464851" y="620617"/>
                  <a:pt x="504651" y="631840"/>
                  <a:pt x="539724" y="596767"/>
                </a:cubicBezTo>
                <a:cubicBezTo>
                  <a:pt x="547904" y="588587"/>
                  <a:pt x="552558" y="577516"/>
                  <a:pt x="558975" y="567891"/>
                </a:cubicBezTo>
                <a:cubicBezTo>
                  <a:pt x="562183" y="558266"/>
                  <a:pt x="568600" y="549161"/>
                  <a:pt x="568600" y="539015"/>
                </a:cubicBezTo>
                <a:cubicBezTo>
                  <a:pt x="568600" y="528869"/>
                  <a:pt x="563512" y="519214"/>
                  <a:pt x="558975" y="510139"/>
                </a:cubicBezTo>
                <a:cubicBezTo>
                  <a:pt x="553802" y="499792"/>
                  <a:pt x="547904" y="489444"/>
                  <a:pt x="539724" y="481264"/>
                </a:cubicBezTo>
                <a:cubicBezTo>
                  <a:pt x="521063" y="462603"/>
                  <a:pt x="505461" y="460217"/>
                  <a:pt x="481973" y="452388"/>
                </a:cubicBezTo>
                <a:cubicBezTo>
                  <a:pt x="414596" y="455596"/>
                  <a:pt x="346883" y="454564"/>
                  <a:pt x="279842" y="462013"/>
                </a:cubicBezTo>
                <a:cubicBezTo>
                  <a:pt x="259674" y="464254"/>
                  <a:pt x="222091" y="481264"/>
                  <a:pt x="222091" y="481264"/>
                </a:cubicBezTo>
                <a:cubicBezTo>
                  <a:pt x="209257" y="490889"/>
                  <a:pt x="196732" y="500940"/>
                  <a:pt x="183590" y="510139"/>
                </a:cubicBezTo>
                <a:cubicBezTo>
                  <a:pt x="164636" y="523407"/>
                  <a:pt x="125838" y="548640"/>
                  <a:pt x="125838" y="548640"/>
                </a:cubicBezTo>
                <a:cubicBezTo>
                  <a:pt x="102407" y="583788"/>
                  <a:pt x="82646" y="610844"/>
                  <a:pt x="68087" y="654518"/>
                </a:cubicBezTo>
                <a:cubicBezTo>
                  <a:pt x="64878" y="664143"/>
                  <a:pt x="62998" y="674319"/>
                  <a:pt x="58461" y="683394"/>
                </a:cubicBezTo>
                <a:cubicBezTo>
                  <a:pt x="53288" y="693741"/>
                  <a:pt x="43909" y="701699"/>
                  <a:pt x="39211" y="712270"/>
                </a:cubicBezTo>
                <a:cubicBezTo>
                  <a:pt x="30279" y="732367"/>
                  <a:pt x="15426" y="783065"/>
                  <a:pt x="10335" y="808523"/>
                </a:cubicBezTo>
                <a:cubicBezTo>
                  <a:pt x="6508" y="827660"/>
                  <a:pt x="2331" y="846826"/>
                  <a:pt x="710" y="866274"/>
                </a:cubicBezTo>
                <a:cubicBezTo>
                  <a:pt x="-889" y="885458"/>
                  <a:pt x="710" y="904775"/>
                  <a:pt x="710" y="924026"/>
                </a:cubicBezTo>
              </a:path>
            </a:pathLst>
          </a:custGeom>
          <a:noFill/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3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 will we be covering today?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Importance of your study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error affects the quality of your study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to reduce error during recruitment and testing?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Q&amp;A for research proposal </a:t>
            </a:r>
          </a:p>
        </p:txBody>
      </p:sp>
    </p:spTree>
    <p:extLst>
      <p:ext uri="{BB962C8B-B14F-4D97-AF65-F5344CB8AC3E}">
        <p14:creationId xmlns:p14="http://schemas.microsoft.com/office/powerpoint/2010/main" val="47031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78" y="279132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Your study is </a:t>
            </a:r>
            <a:r>
              <a:rPr lang="en-US" sz="4800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important</a:t>
            </a:r>
            <a:endParaRPr lang="en-US" sz="4800" b="1" dirty="0">
              <a:solidFill>
                <a:schemeClr val="accent1">
                  <a:lumMod val="7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878" y="1871312"/>
            <a:ext cx="9951720" cy="3960664"/>
          </a:xfrm>
        </p:spPr>
        <p:txBody>
          <a:bodyPr>
            <a:noAutofit/>
          </a:bodyPr>
          <a:lstStyle/>
          <a:p>
            <a:pPr>
              <a:buFont typeface="Arial" charset="0"/>
              <a:buChar char="•"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It is not</a:t>
            </a:r>
          </a:p>
          <a:p>
            <a:pPr lvl="1">
              <a:buFont typeface="Arial" charset="0"/>
              <a:buChar char="•"/>
            </a:pP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“just” a 310 project</a:t>
            </a:r>
          </a:p>
          <a:p>
            <a:pPr lvl="1">
              <a:buFont typeface="Arial" charset="0"/>
              <a:buChar char="•"/>
            </a:pP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“just” about your learning or your grades</a:t>
            </a:r>
          </a:p>
          <a:p>
            <a:pPr lvl="1">
              <a:buFont typeface="Arial" charset="0"/>
              <a:buChar char="•"/>
            </a:pPr>
            <a:endParaRPr lang="en-US" sz="28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It is</a:t>
            </a:r>
          </a:p>
          <a:p>
            <a:pPr lvl="1">
              <a:buFont typeface="Arial" charset="0"/>
              <a:buChar char="•"/>
            </a:pP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about trying to find out something new!</a:t>
            </a:r>
          </a:p>
          <a:p>
            <a:pPr lvl="1">
              <a:buFont typeface="Arial" charset="0"/>
              <a:buChar char="•"/>
            </a:pP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and is important enough to take up your participants’ time</a:t>
            </a:r>
          </a:p>
          <a:p>
            <a:pPr lvl="1">
              <a:buFont typeface="Arial" charset="0"/>
              <a:buChar char="•"/>
            </a:pP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it may well end up as published research</a:t>
            </a:r>
            <a:endParaRPr lang="en-US" sz="28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rot="20934649">
            <a:off x="7535636" y="1973049"/>
            <a:ext cx="3922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Arial Black"/>
              </a:rPr>
              <a:t>Though this is kind of important 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Arial Black"/>
                <a:sym typeface="Wingdings"/>
              </a:rPr>
              <a:t></a:t>
            </a:r>
            <a:endParaRPr lang="en-US" sz="2800" dirty="0">
              <a:solidFill>
                <a:schemeClr val="bg2">
                  <a:lumMod val="25000"/>
                </a:schemeClr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07841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880"/>
              </a:lnSpc>
            </a:pP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The </a:t>
            </a:r>
            <a:r>
              <a:rPr lang="en-US" sz="4800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quality</a:t>
            </a: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of your study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991201"/>
            <a:ext cx="9936480" cy="41148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Depends on</a:t>
            </a:r>
          </a:p>
          <a:p>
            <a:pPr lvl="1">
              <a:spcBef>
                <a:spcPts val="1400"/>
              </a:spcBef>
              <a:buFont typeface="Arial" charset="0"/>
              <a:buChar char="•"/>
            </a:pP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Quality of your 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research design</a:t>
            </a:r>
          </a:p>
          <a:p>
            <a:pPr marL="384048" lvl="2" indent="0">
              <a:buNone/>
            </a:pP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design determined by theory, confounding variables considered </a:t>
            </a:r>
            <a:r>
              <a:rPr lang="en-US" sz="2400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etc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 </a:t>
            </a:r>
          </a:p>
          <a:p>
            <a:pPr lvl="1">
              <a:spcBef>
                <a:spcPts val="1400"/>
              </a:spcBef>
              <a:buFont typeface="Arial" charset="0"/>
              <a:buChar char="•"/>
            </a:pP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Quality of your 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materials</a:t>
            </a:r>
          </a:p>
          <a:p>
            <a:pPr marL="384048" lvl="2" indent="0">
              <a:buNone/>
            </a:pP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measures with good reliability and validity</a:t>
            </a:r>
          </a:p>
          <a:p>
            <a:pPr lvl="1">
              <a:spcBef>
                <a:spcPts val="1400"/>
              </a:spcBef>
              <a:buFont typeface="Arial" charset="0"/>
              <a:buChar char="•"/>
            </a:pP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Quality of the 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data you collect </a:t>
            </a:r>
          </a:p>
          <a:p>
            <a:pPr marL="384048" lvl="2" indent="0">
              <a:buNone/>
            </a:pP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error/noise, external validity problems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62699" y="2343043"/>
            <a:ext cx="7055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sz="4800" dirty="0">
              <a:solidFill>
                <a:schemeClr val="bg2">
                  <a:lumMod val="50000"/>
                </a:schemeClr>
              </a:solidFill>
              <a:latin typeface="Arial Blac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34669" y="3633102"/>
            <a:ext cx="7055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sz="4800" dirty="0">
              <a:solidFill>
                <a:schemeClr val="bg2">
                  <a:lumMod val="50000"/>
                </a:schemeClr>
              </a:solidFill>
              <a:latin typeface="Arial Blac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82364" y="4614160"/>
            <a:ext cx="560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Arial Black"/>
                <a:ea typeface="Zapf Dingbats"/>
                <a:cs typeface="Zapf Dingbats"/>
              </a:rPr>
              <a:t>?</a:t>
            </a:r>
            <a:endParaRPr lang="en-US" sz="4800" dirty="0">
              <a:solidFill>
                <a:schemeClr val="bg2">
                  <a:lumMod val="50000"/>
                </a:schemeClr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1226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1C1C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1C1C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1C1C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1C1C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1C1C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780"/>
              </a:lnSpc>
            </a:pPr>
            <a:r>
              <a:rPr lang="en-US" sz="4800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Error</a:t>
            </a: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in your data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7280" y="2100713"/>
            <a:ext cx="10058400" cy="4008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Times" pitchFamily="-106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Remember, all measurement contains error</a:t>
            </a:r>
          </a:p>
          <a:p>
            <a:pPr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More random error in your data means</a:t>
            </a:r>
          </a:p>
          <a:p>
            <a:pPr lvl="2">
              <a:spcBef>
                <a:spcPts val="0"/>
              </a:spcBef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less reliability </a:t>
            </a:r>
          </a:p>
          <a:p>
            <a:pPr lvl="2">
              <a:spcBef>
                <a:spcPts val="0"/>
              </a:spcBef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more variance </a:t>
            </a:r>
          </a:p>
          <a:p>
            <a:pPr lvl="2">
              <a:spcBef>
                <a:spcPts val="0"/>
              </a:spcBef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more difficulty finding significant effects</a:t>
            </a:r>
          </a:p>
          <a:p>
            <a:pPr lvl="2">
              <a:spcBef>
                <a:spcPts val="0"/>
              </a:spcBef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more difficulty drawing conclusions from your results</a:t>
            </a:r>
          </a:p>
          <a:p>
            <a:pPr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Systematic error is even worse, unless you’ve got a measure of it </a:t>
            </a:r>
          </a:p>
        </p:txBody>
      </p:sp>
    </p:spTree>
    <p:extLst>
      <p:ext uri="{BB962C8B-B14F-4D97-AF65-F5344CB8AC3E}">
        <p14:creationId xmlns:p14="http://schemas.microsoft.com/office/powerpoint/2010/main" val="139911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87957" y="10581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So how do we reduce </a:t>
            </a:r>
            <a:r>
              <a:rPr lang="en-US" sz="4800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error</a:t>
            </a: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??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8" y="2531445"/>
            <a:ext cx="8791075" cy="380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Recruiting participants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 will be recruiting 6 participants each</a:t>
            </a:r>
          </a:p>
          <a:p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Things to take note:</a:t>
            </a:r>
          </a:p>
          <a:p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/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Lack of pressure on potential participants</a:t>
            </a:r>
          </a:p>
          <a:p>
            <a:pPr lvl="2">
              <a:buClr>
                <a:srgbClr val="FF0000"/>
              </a:buClr>
              <a:buFont typeface="ArialUnicodeMS" charset="0"/>
              <a:buChar char="✗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Reward e.g. money, treats, etc. </a:t>
            </a:r>
          </a:p>
          <a:p>
            <a:pPr lvl="2">
              <a:buClr>
                <a:srgbClr val="FF0000"/>
              </a:buClr>
              <a:buFont typeface="ArialUnicodeMS" charset="0"/>
              <a:buChar char="✗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Threats 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Are we targeting specific groups of individuals?</a:t>
            </a:r>
          </a:p>
          <a:p>
            <a:pPr lvl="2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Age (&gt; = 18 for your study)</a:t>
            </a:r>
          </a:p>
          <a:p>
            <a:pPr lvl="2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Ethnicity?</a:t>
            </a:r>
          </a:p>
          <a:p>
            <a:pPr lvl="3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Only people who have spent &gt; 5 years in a Caucasian majority country</a:t>
            </a:r>
          </a:p>
          <a:p>
            <a:pPr lvl="4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Why?</a:t>
            </a:r>
          </a:p>
          <a:p>
            <a:pPr lvl="4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do we define Caucasian?</a:t>
            </a:r>
          </a:p>
          <a:p>
            <a:pPr lvl="2">
              <a:buClr>
                <a:srgbClr val="FF0000"/>
              </a:buClr>
              <a:buFont typeface="ArialUnicodeMS" charset="0"/>
              <a:buChar char="✗"/>
            </a:pPr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pPr lvl="2"/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pPr lvl="2"/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pPr lvl="1"/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rot="21368722">
            <a:off x="6834699" y="2917295"/>
            <a:ext cx="4051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>
                    <a:lumMod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Recall: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thical principle of respect covered last week</a:t>
            </a:r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958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73" y="746894"/>
            <a:ext cx="10836000" cy="491991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322771" y="4023360"/>
            <a:ext cx="4167738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46947" y="4215865"/>
            <a:ext cx="6814687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637322" y="4417996"/>
            <a:ext cx="74114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436219" y="4417996"/>
            <a:ext cx="602541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1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Recruiting participants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Lack of pressure on potential participants</a:t>
            </a:r>
          </a:p>
          <a:p>
            <a:pPr lvl="1">
              <a:buClr>
                <a:srgbClr val="FF0000"/>
              </a:buClr>
              <a:buFont typeface="ArialUnicodeMS" charset="0"/>
              <a:buChar char="✗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Reward e.g. money, treats, etc. </a:t>
            </a:r>
          </a:p>
          <a:p>
            <a:pPr lvl="1">
              <a:buClr>
                <a:srgbClr val="FF0000"/>
              </a:buClr>
              <a:buFont typeface="ArialUnicodeMS" charset="0"/>
              <a:buChar char="✗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Threats </a:t>
            </a:r>
          </a:p>
          <a:p>
            <a:pPr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Are we targeting specific groups of individuals?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Age (&gt; = 18 for your study)</a:t>
            </a:r>
          </a:p>
          <a:p>
            <a:pPr lvl="1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Ethnicity?</a:t>
            </a:r>
          </a:p>
          <a:p>
            <a:pPr lvl="2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Only people who have spent &gt; 5 years in a Caucasian majority country</a:t>
            </a:r>
          </a:p>
          <a:p>
            <a:pPr lvl="2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do we explain to potential participants?</a:t>
            </a:r>
          </a:p>
          <a:p>
            <a:pPr lvl="3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Some people might think that we are discriminating against specific groups of people. If you encounter such a situation, remain calm and respectful 😊</a:t>
            </a:r>
          </a:p>
          <a:p>
            <a:pPr lvl="3">
              <a:buClr>
                <a:schemeClr val="bg2">
                  <a:lumMod val="50000"/>
                </a:schemeClr>
              </a:buCl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Explain that we are limiting our participants to specific groups of individuals for experimental reasons (e.g. potential other race effect)</a:t>
            </a:r>
          </a:p>
          <a:p>
            <a:pPr lvl="1">
              <a:buClr>
                <a:schemeClr val="tx1"/>
              </a:buClr>
              <a:buFont typeface="Arial" charset="0"/>
              <a:buChar char="•"/>
            </a:pPr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pPr lvl="2">
              <a:buClr>
                <a:srgbClr val="FF0000"/>
              </a:buClr>
              <a:buFont typeface="ArialUnicodeMS" charset="0"/>
              <a:buChar char="✗"/>
            </a:pPr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pPr lvl="2"/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pPr lvl="2"/>
            <a:endParaRPr lang="en-US" dirty="0" smtClean="0">
              <a:latin typeface="Helvetica" charset="0"/>
              <a:ea typeface="Helvetica" charset="0"/>
              <a:cs typeface="Helvetica" charset="0"/>
            </a:endParaRPr>
          </a:p>
          <a:p>
            <a:pPr lvl="1"/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rot="21368722">
            <a:off x="7689832" y="1579561"/>
            <a:ext cx="4051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>
                    <a:lumMod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Recall: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thical principle of respect covered last week</a:t>
            </a:r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7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Tips for working </a:t>
            </a:r>
            <a:r>
              <a:rPr lang="en-US" sz="4800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with </a:t>
            </a: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7280" y="1996441"/>
            <a:ext cx="10058400" cy="422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Times" pitchFamily="-106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Try to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minimise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the sources of “error” in the data you get from participants</a:t>
            </a:r>
          </a:p>
          <a:p>
            <a:pPr marL="971550" lvl="1" indent="-514350">
              <a:spcBef>
                <a:spcPts val="2472"/>
              </a:spcBef>
              <a:buFont typeface="+mj-lt"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Remember your experiences as a 1</a:t>
            </a:r>
            <a:r>
              <a:rPr lang="en-US" baseline="30000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year!! </a:t>
            </a:r>
          </a:p>
          <a:p>
            <a:pPr lvl="2">
              <a:spcBef>
                <a:spcPts val="672"/>
              </a:spcBef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good was the data you provided? </a:t>
            </a:r>
          </a:p>
          <a:p>
            <a:pPr lvl="2">
              <a:spcBef>
                <a:spcPts val="672"/>
              </a:spcBef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were you treated?</a:t>
            </a:r>
          </a:p>
          <a:p>
            <a:pPr marL="971550" lvl="1" indent="-514350">
              <a:spcBef>
                <a:spcPts val="2472"/>
              </a:spcBef>
              <a:buFont typeface="+mj-lt"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Treat participants with respect &amp; courtesy and as a person “doing you a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favour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20037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99" y="428043"/>
            <a:ext cx="9945303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Tips for working </a:t>
            </a:r>
            <a:r>
              <a:rPr lang="en-US" sz="4800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with </a:t>
            </a: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724299" y="1895375"/>
            <a:ext cx="10782701" cy="4345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Times" pitchFamily="-106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spcBef>
                <a:spcPts val="1224"/>
              </a:spcBef>
              <a:buFont typeface="+mj-lt"/>
              <a:buAutoNum type="arabicPeriod" startAt="3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Engage the participant</a:t>
            </a:r>
          </a:p>
          <a:p>
            <a:pPr lvl="2"/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 interested in them</a:t>
            </a:r>
          </a:p>
          <a:p>
            <a:pPr lvl="2"/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Encourage them to see you as a person, a fellow student and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someone they don’t want to screw over!</a:t>
            </a:r>
          </a:p>
          <a:p>
            <a:pPr lvl="2">
              <a:buFont typeface="Arial"/>
              <a:buChar char="•"/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 enthusiastic about your project!</a:t>
            </a:r>
          </a:p>
          <a:p>
            <a:pPr lvl="2"/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 serious about your project </a:t>
            </a:r>
          </a:p>
          <a:p>
            <a:pPr lvl="2"/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If your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tasks are boring/difficult/silly you can acknowledge this</a:t>
            </a:r>
          </a:p>
          <a:p>
            <a:pPr lvl="3"/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but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give impression this is a NECESSARY evil</a:t>
            </a:r>
          </a:p>
          <a:p>
            <a:pPr marL="992188" lvl="2" indent="-542925">
              <a:spcBef>
                <a:spcPts val="1776"/>
              </a:spcBef>
              <a:buFont typeface="+mj-lt"/>
              <a:buAutoNum type="arabicPeriod" startAt="4"/>
            </a:pPr>
            <a:endParaRPr lang="en-US" sz="2800" dirty="0">
              <a:solidFill>
                <a:srgbClr val="800080"/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1449388" lvl="3" indent="-542925">
              <a:spcBef>
                <a:spcPts val="1776"/>
              </a:spcBef>
            </a:pPr>
            <a:endParaRPr lang="en-US" sz="2800" dirty="0">
              <a:latin typeface="Helvetica" charset="0"/>
              <a:ea typeface="Helvetica" charset="0"/>
              <a:cs typeface="Helvetica" charset="0"/>
            </a:endParaRPr>
          </a:p>
          <a:p>
            <a:pPr lvl="2"/>
            <a:endParaRPr lang="en-US" sz="2800" dirty="0">
              <a:latin typeface="Helvetica" charset="0"/>
              <a:ea typeface="Helvetica" charset="0"/>
              <a:cs typeface="Helvetica" charset="0"/>
            </a:endParaRPr>
          </a:p>
          <a:p>
            <a:pPr lvl="2"/>
            <a:endParaRPr lang="en-US" sz="2800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4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58240" y="2235200"/>
            <a:ext cx="10012680" cy="401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Times" pitchFamily="-106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2188" lvl="2" indent="-542925">
              <a:spcBef>
                <a:spcPts val="1776"/>
              </a:spcBef>
              <a:buFont typeface="+mj-lt"/>
              <a:buAutoNum type="arabicPeriod" startAt="4"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 vigilant! </a:t>
            </a:r>
          </a:p>
          <a:p>
            <a:pPr marL="992188" lvl="2" indent="-542925">
              <a:spcBef>
                <a:spcPts val="576"/>
              </a:spcBef>
              <a:buFont typeface="Arial" charset="0"/>
              <a:buChar char="•"/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Check that they can see! </a:t>
            </a:r>
          </a:p>
          <a:p>
            <a:pPr marL="1449388" lvl="3" indent="-542925">
              <a:spcBef>
                <a:spcPts val="576"/>
              </a:spcBef>
              <a:buFont typeface="Arial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should they be wearing their glasses? </a:t>
            </a:r>
          </a:p>
          <a:p>
            <a:pPr marL="1449388" lvl="3" indent="-542925">
              <a:spcBef>
                <a:spcPts val="576"/>
              </a:spcBef>
              <a:buFont typeface="Arial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is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there a horrible glare from an overhead light obscuring something on the screen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?</a:t>
            </a:r>
          </a:p>
          <a:p>
            <a:pPr marL="992188" lvl="2" indent="-542925">
              <a:spcBef>
                <a:spcPts val="576"/>
              </a:spcBef>
              <a:buFont typeface="Arial" charset="0"/>
              <a:buChar char="•"/>
            </a:pP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Ask them to put phone on silent and put it out of sight</a:t>
            </a:r>
            <a:endParaRPr lang="en-US" sz="28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992188" lvl="2" indent="-542925">
              <a:spcBef>
                <a:spcPts val="576"/>
              </a:spcBef>
              <a:buFont typeface="Arial" charset="0"/>
              <a:buChar char="•"/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Observe your participant, </a:t>
            </a:r>
            <a:r>
              <a:rPr lang="en-US" sz="2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are they concentrating/dozing off/button bashing/not looking well etc.?</a:t>
            </a:r>
            <a:endParaRPr lang="en-US" sz="2800" dirty="0">
              <a:solidFill>
                <a:srgbClr val="800080"/>
              </a:solidFill>
              <a:latin typeface="Arial"/>
            </a:endParaRPr>
          </a:p>
          <a:p>
            <a:pPr marL="1449388" lvl="3" indent="-542925">
              <a:spcBef>
                <a:spcPts val="1776"/>
              </a:spcBef>
            </a:pPr>
            <a:endParaRPr lang="en-US" sz="2400" dirty="0">
              <a:latin typeface="Arial"/>
            </a:endParaRPr>
          </a:p>
          <a:p>
            <a:pPr lvl="2"/>
            <a:endParaRPr lang="en-US" dirty="0">
              <a:latin typeface="Arial"/>
            </a:endParaRPr>
          </a:p>
          <a:p>
            <a:pPr lvl="2"/>
            <a:endParaRPr lang="en-US" dirty="0">
              <a:latin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51559" y="701040"/>
            <a:ext cx="10325501" cy="1143000"/>
          </a:xfrm>
        </p:spPr>
        <p:txBody>
          <a:bodyPr>
            <a:noAutofit/>
          </a:bodyPr>
          <a:lstStyle/>
          <a:p>
            <a:pPr>
              <a:lnSpc>
                <a:spcPts val="4480"/>
              </a:lnSpc>
            </a:pP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Tips for working </a:t>
            </a:r>
            <a:r>
              <a:rPr lang="en-US" sz="4800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with </a:t>
            </a: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rot="20732861">
            <a:off x="7378681" y="1835340"/>
            <a:ext cx="4638857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Arial Black"/>
              </a:rPr>
              <a:t>Pro Tip: People’s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rial Black"/>
              </a:rPr>
              <a:t>responses to stimuli they don</a:t>
            </a:r>
            <a:r>
              <a:rPr lang="fr-FR" sz="2000" dirty="0">
                <a:solidFill>
                  <a:schemeClr val="bg2">
                    <a:lumMod val="25000"/>
                  </a:schemeClr>
                </a:solidFill>
                <a:latin typeface="Arial Black"/>
              </a:rPr>
              <a:t>’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rial Black"/>
              </a:rPr>
              <a:t>t see aren’t very informative! </a:t>
            </a:r>
          </a:p>
        </p:txBody>
      </p:sp>
    </p:spTree>
    <p:extLst>
      <p:ext uri="{BB962C8B-B14F-4D97-AF65-F5344CB8AC3E}">
        <p14:creationId xmlns:p14="http://schemas.microsoft.com/office/powerpoint/2010/main" val="24286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4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82040" y="2143760"/>
            <a:ext cx="10104120" cy="401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Times" pitchFamily="-106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2188" lvl="2" indent="-542925">
              <a:spcBef>
                <a:spcPts val="1776"/>
              </a:spcBef>
              <a:buFont typeface="+mj-lt"/>
              <a:buAutoNum type="arabicPeriod" startAt="5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 as consistent as possible</a:t>
            </a:r>
          </a:p>
          <a:p>
            <a:pPr marL="992188" lvl="2" indent="-542925">
              <a:spcBef>
                <a:spcPts val="576"/>
              </a:spcBef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Every testing session should be as similar as possible</a:t>
            </a:r>
          </a:p>
          <a:p>
            <a:pPr marL="992188" lvl="2" indent="-542925">
              <a:spcBef>
                <a:spcPts val="576"/>
              </a:spcBef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Order in which you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all do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everything should be the same </a:t>
            </a:r>
          </a:p>
          <a:p>
            <a:pPr marL="1449388" lvl="3" indent="-542925">
              <a:spcBef>
                <a:spcPts val="576"/>
              </a:spcBef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except where varied for specific reasons, e.g. counterbalanced task order</a:t>
            </a:r>
          </a:p>
          <a:p>
            <a:pPr marL="992188" lvl="2" indent="-542925">
              <a:spcBef>
                <a:spcPts val="576"/>
              </a:spcBef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Instructions should be identical for all participants</a:t>
            </a:r>
          </a:p>
          <a:p>
            <a:pPr marL="1449388" lvl="3" indent="-542925">
              <a:spcBef>
                <a:spcPts val="576"/>
              </a:spcBef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instructions presented on computer screen help</a:t>
            </a:r>
          </a:p>
          <a:p>
            <a:pPr marL="1449388" lvl="3" indent="-542925">
              <a:spcBef>
                <a:spcPts val="576"/>
              </a:spcBef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prepare a script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for verbal instructions</a:t>
            </a:r>
          </a:p>
          <a:p>
            <a:pPr marL="49213" lvl="1" indent="0">
              <a:spcBef>
                <a:spcPts val="576"/>
              </a:spcBef>
              <a:buNone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Why is consistency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super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important when measuring individual differences?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449263" lvl="2" indent="0">
              <a:spcBef>
                <a:spcPts val="1776"/>
              </a:spcBef>
              <a:buNone/>
            </a:pPr>
            <a:endParaRPr lang="en-US" dirty="0">
              <a:solidFill>
                <a:srgbClr val="800080"/>
              </a:solidFill>
              <a:latin typeface="Arial"/>
            </a:endParaRPr>
          </a:p>
          <a:p>
            <a:pPr marL="1449388" lvl="3" indent="-542925">
              <a:spcBef>
                <a:spcPts val="1776"/>
              </a:spcBef>
            </a:pPr>
            <a:endParaRPr lang="en-US" dirty="0">
              <a:latin typeface="Arial"/>
            </a:endParaRPr>
          </a:p>
          <a:p>
            <a:pPr lvl="2"/>
            <a:endParaRPr lang="en-US" dirty="0">
              <a:latin typeface="Arial"/>
            </a:endParaRPr>
          </a:p>
          <a:p>
            <a:pPr lvl="2"/>
            <a:endParaRPr lang="en-US" dirty="0">
              <a:latin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82039" y="701040"/>
            <a:ext cx="9544251" cy="1143000"/>
          </a:xfrm>
        </p:spPr>
        <p:txBody>
          <a:bodyPr>
            <a:normAutofit fontScale="90000"/>
          </a:bodyPr>
          <a:lstStyle/>
          <a:p>
            <a:pPr>
              <a:lnSpc>
                <a:spcPts val="4480"/>
              </a:lnSpc>
            </a:pP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Tips for working </a:t>
            </a:r>
            <a:r>
              <a:rPr lang="en-US" sz="4800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with </a:t>
            </a: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0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4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39" y="596289"/>
            <a:ext cx="9458425" cy="1143000"/>
          </a:xfrm>
        </p:spPr>
        <p:txBody>
          <a:bodyPr>
            <a:normAutofit fontScale="90000"/>
          </a:bodyPr>
          <a:lstStyle/>
          <a:p>
            <a:pPr>
              <a:lnSpc>
                <a:spcPts val="4480"/>
              </a:lnSpc>
            </a:pPr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Tips for working with participants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58240" y="1838960"/>
            <a:ext cx="9982200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Times" pitchFamily="-106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spcBef>
                <a:spcPts val="1224"/>
              </a:spcBef>
              <a:buFont typeface="+mj-lt"/>
              <a:buAutoNum type="arabicPeriod" startAt="6"/>
            </a:pP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Debrief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seriously</a:t>
            </a:r>
          </a:p>
          <a:p>
            <a:pPr marL="1047750" lvl="1" indent="-457200">
              <a:spcBef>
                <a:spcPts val="576"/>
              </a:spcBef>
              <a:buFont typeface="Arial" charset="0"/>
              <a:buChar char="•"/>
            </a:pPr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 </a:t>
            </a:r>
            <a:r>
              <a:rPr lang="en-US" sz="2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often keen to escape</a:t>
            </a:r>
          </a:p>
          <a:p>
            <a:pPr marL="1047750" lvl="1" indent="-457200">
              <a:spcBef>
                <a:spcPts val="576"/>
              </a:spcBef>
              <a:buFont typeface="Arial" charset="0"/>
              <a:buChar char="•"/>
            </a:pPr>
            <a:r>
              <a:rPr lang="en-US" sz="2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Find quick way to give them a sense that your study is looking at something </a:t>
            </a:r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interesting </a:t>
            </a:r>
            <a:r>
              <a:rPr lang="en-US" sz="2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and that their time hasn’t been wasted</a:t>
            </a:r>
          </a:p>
          <a:p>
            <a:pPr marL="1047750" lvl="1" indent="-457200">
              <a:spcBef>
                <a:spcPts val="576"/>
              </a:spcBef>
              <a:buFont typeface="Arial" charset="0"/>
              <a:buChar char="•"/>
            </a:pPr>
            <a:r>
              <a:rPr lang="en-US" sz="2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Ask them not to explain experiment to other potential </a:t>
            </a:r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participants</a:t>
            </a:r>
          </a:p>
          <a:p>
            <a:pPr marL="1047750" lvl="1" indent="-457200">
              <a:spcBef>
                <a:spcPts val="576"/>
              </a:spcBef>
              <a:buFont typeface="Arial" charset="0"/>
              <a:buChar char="•"/>
            </a:pPr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Sometimes need to check whether have </a:t>
            </a:r>
          </a:p>
          <a:p>
            <a:pPr marL="1341438" lvl="2" indent="-350838">
              <a:spcBef>
                <a:spcPts val="576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completed any of the tests/questionnaires before</a:t>
            </a:r>
          </a:p>
          <a:p>
            <a:pPr marL="1341438" lvl="2" indent="-350838">
              <a:spcBef>
                <a:spcPts val="576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participated in any similar studies e.g., run by the </a:t>
            </a:r>
            <a:r>
              <a:rPr lang="en-US" sz="2000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Facelab</a:t>
            </a: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/</a:t>
            </a:r>
            <a:r>
              <a:rPr lang="en-US" sz="2000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PEPLab</a:t>
            </a:r>
            <a:endParaRPr lang="en-US" sz="20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992188" lvl="2" indent="-542925">
              <a:spcBef>
                <a:spcPts val="576"/>
              </a:spcBef>
            </a:pPr>
            <a:endParaRPr lang="en-US" dirty="0">
              <a:latin typeface="Helvetica" charset="0"/>
              <a:ea typeface="Helvetica" charset="0"/>
              <a:cs typeface="Helvetica" charset="0"/>
            </a:endParaRPr>
          </a:p>
          <a:p>
            <a:pPr marL="992188" lvl="2" indent="-542925">
              <a:spcBef>
                <a:spcPts val="1776"/>
              </a:spcBef>
              <a:buFont typeface="+mj-lt"/>
              <a:buAutoNum type="arabicPeriod" startAt="4"/>
            </a:pPr>
            <a:endParaRPr lang="en-US" dirty="0">
              <a:solidFill>
                <a:srgbClr val="800080"/>
              </a:solidFill>
              <a:latin typeface="Arial"/>
            </a:endParaRPr>
          </a:p>
          <a:p>
            <a:pPr marL="1449388" lvl="3" indent="-542925">
              <a:spcBef>
                <a:spcPts val="1776"/>
              </a:spcBef>
            </a:pPr>
            <a:endParaRPr lang="en-US" dirty="0">
              <a:latin typeface="Arial"/>
            </a:endParaRPr>
          </a:p>
          <a:p>
            <a:pPr lvl="2"/>
            <a:endParaRPr lang="en-US" dirty="0">
              <a:latin typeface="Arial"/>
            </a:endParaRPr>
          </a:p>
          <a:p>
            <a:pPr lvl="2"/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234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520" y="443888"/>
            <a:ext cx="8808720" cy="120203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Keeping good records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87680" y="1855485"/>
            <a:ext cx="10622280" cy="449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Times" pitchFamily="-106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41388" lvl="1" indent="-350838">
              <a:spcBef>
                <a:spcPts val="576"/>
              </a:spcBef>
              <a:buFont typeface="Arial" charset="0"/>
              <a:buChar char="•"/>
            </a:pP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This data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may have a life well beyond your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310 project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! Make everything comprehensible to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others</a:t>
            </a:r>
          </a:p>
          <a:p>
            <a:pPr marL="941388" lvl="1" indent="-350838">
              <a:spcBef>
                <a:spcPts val="576"/>
              </a:spcBef>
              <a:buFont typeface="Arial" charset="0"/>
              <a:buChar char="•"/>
            </a:pP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We will program all the tasks using the online testing software </a:t>
            </a:r>
            <a:r>
              <a:rPr lang="en-US" sz="2200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Qualtrics</a:t>
            </a:r>
            <a:endParaRPr lang="en-US" sz="2200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1341438" lvl="2" indent="-350838">
              <a:spcBef>
                <a:spcPts val="576"/>
              </a:spcBef>
              <a:buFont typeface="Arial" charset="0"/>
              <a:buChar char="•"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Advantages </a:t>
            </a:r>
            <a:r>
              <a:rPr lang="mr-IN" sz="1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–</a:t>
            </a: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Data matching, randomization, etc. are all automated</a:t>
            </a:r>
          </a:p>
          <a:p>
            <a:pPr marL="1341438" lvl="2" indent="-350838">
              <a:spcBef>
                <a:spcPts val="576"/>
              </a:spcBef>
              <a:buFont typeface="Arial" charset="0"/>
              <a:buChar char="•"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Details to be covered next week</a:t>
            </a:r>
          </a:p>
          <a:p>
            <a:pPr marL="941388" lvl="1" indent="-350838">
              <a:spcBef>
                <a:spcPts val="576"/>
              </a:spcBef>
              <a:buFont typeface="Arial" charset="0"/>
              <a:buChar char="•"/>
            </a:pP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Record 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important demographic detai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ls</a:t>
            </a:r>
          </a:p>
          <a:p>
            <a:pPr marL="1341438" lvl="2" indent="-350838">
              <a:spcBef>
                <a:spcPts val="576"/>
              </a:spcBef>
              <a:buFont typeface="Arial" charset="0"/>
              <a:buChar char="•"/>
            </a:pPr>
            <a:r>
              <a:rPr lang="en-US" sz="18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We will have a demographic questionnaire at the end of the study for the participants to fill in,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Age, Gender, Ethnicity (years in Oz)</a:t>
            </a:r>
            <a:endParaRPr lang="en-US" sz="1800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941388" lvl="1" indent="-350838">
              <a:spcBef>
                <a:spcPts val="1176"/>
              </a:spcBef>
              <a:buFont typeface="Arial" charset="0"/>
              <a:buChar char="•"/>
            </a:pPr>
            <a:r>
              <a:rPr lang="en-US" sz="22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Record 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observations of participants</a:t>
            </a:r>
          </a:p>
          <a:p>
            <a:pPr marL="1341438" lvl="2" indent="-350838">
              <a:spcBef>
                <a:spcPts val="400"/>
              </a:spcBef>
              <a:buFont typeface="Arial" charset="0"/>
              <a:buChar char="•"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not interested and didn’t appear to try hard, arrived late &amp; was flustered, had trouble understanding task, did everything very quickly</a:t>
            </a:r>
          </a:p>
          <a:p>
            <a:pPr lvl="2"/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869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3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No blame culture! 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058400" cy="4835240"/>
          </a:xfrm>
        </p:spPr>
        <p:txBody>
          <a:bodyPr>
            <a:noAutofit/>
          </a:bodyPr>
          <a:lstStyle/>
          <a:p>
            <a:pPr>
              <a:buFont typeface="Arial" charset="0"/>
              <a:buChar char="•"/>
            </a:pP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Science relies on the integrity of the data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If something goes wrong when you are testing let me/Romina know</a:t>
            </a:r>
          </a:p>
          <a:p>
            <a:pPr lvl="2">
              <a:buFont typeface="Arial" charset="0"/>
              <a:buChar char="•"/>
            </a:pP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computer freezes, dies, does something weird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If you make a mistake let me/Romina know</a:t>
            </a:r>
          </a:p>
          <a:p>
            <a:pPr lvl="2">
              <a:buFont typeface="Arial" charset="0"/>
              <a:buChar char="•"/>
            </a:pP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forget to administer a task, screw up codes, give the wrong instructions, save the data in the wrong place, test a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participant who is too old/young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If there is any reason why we </a:t>
            </a:r>
            <a:r>
              <a:rPr lang="en-US" sz="2000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shouldn</a:t>
            </a:r>
            <a:r>
              <a:rPr lang="uk-UA" sz="20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’</a:t>
            </a: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 use your participant's data let me/Romina know</a:t>
            </a:r>
          </a:p>
          <a:p>
            <a:pPr lvl="2">
              <a:buFont typeface="Arial" charset="0"/>
              <a:buChar char="•"/>
            </a:pP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e.g., participant is drunk </a:t>
            </a:r>
          </a:p>
          <a:p>
            <a:pPr>
              <a:buFont typeface="Arial" charset="0"/>
              <a:buChar char="•"/>
            </a:pP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Don’t worry! Everyone makes mistakes.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Your marks will not be affected! </a:t>
            </a:r>
          </a:p>
          <a:p>
            <a:pPr>
              <a:buFont typeface="Arial" charset="0"/>
              <a:buChar char="•"/>
            </a:pP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 will not have to test additional participants</a:t>
            </a:r>
          </a:p>
          <a:p>
            <a:pPr>
              <a:buFont typeface="Arial" charset="0"/>
              <a:buChar char="•"/>
            </a:pPr>
            <a:r>
              <a:rPr lang="en-US" sz="2400" dirty="0" smtClean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rPr>
              <a:t>We rely on your honesty and integrity</a:t>
            </a:r>
            <a:endParaRPr lang="en-US" sz="2400" dirty="0">
              <a:solidFill>
                <a:schemeClr val="accent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26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 have we covered today?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Importance of your study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error affects the quality of your study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to reduce error during recruitment and testing?</a:t>
            </a:r>
          </a:p>
          <a:p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0" indent="0">
              <a:buNone/>
            </a:pPr>
            <a:r>
              <a:rPr lang="en-US" sz="44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Next week</a:t>
            </a:r>
            <a:r>
              <a:rPr lang="mr-IN" sz="44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……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0" indent="0">
              <a:buNone/>
            </a:pPr>
            <a:endParaRPr lang="en-US" sz="2200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Details about scheduling and testing for your study 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Introduction to the lab space, testing demo, and practice runs (Yay!!)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35591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90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Research participation swap</a:t>
            </a:r>
            <a:endParaRPr lang="en-US" sz="4800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To facilitate recruitment, the 3310 class in the face group (Topic 4) has kindly agreed to do a research participation swap. 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 can swap with one student in that group and participate in each other’s study. 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They are recruiting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aucasians only.  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They only have 14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students (maybe less depending on our recruitment criteria).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 for those who would like to swap, send me an email by next Monday.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heir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tutor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Jemma and I will match you to one person from that class. First-come-first-serve!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99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8442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Q&amp;A for research proposal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92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1180</Words>
  <Application>Microsoft Macintosh PowerPoint</Application>
  <PresentationFormat>Widescreen</PresentationFormat>
  <Paragraphs>166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Arial</vt:lpstr>
      <vt:lpstr>Arial Black</vt:lpstr>
      <vt:lpstr>Arial Narrow</vt:lpstr>
      <vt:lpstr>ArialUnicodeMS</vt:lpstr>
      <vt:lpstr>Calibri</vt:lpstr>
      <vt:lpstr>Calibri Light</vt:lpstr>
      <vt:lpstr>Garamond</vt:lpstr>
      <vt:lpstr>Helvetica</vt:lpstr>
      <vt:lpstr>Times</vt:lpstr>
      <vt:lpstr>Wingdings</vt:lpstr>
      <vt:lpstr>Zapf Dingbats</vt:lpstr>
      <vt:lpstr>Zapfino</vt:lpstr>
      <vt:lpstr>Office Theme</vt:lpstr>
      <vt:lpstr>PowerPoint Presentation</vt:lpstr>
      <vt:lpstr> Lab 4  Recruiting and Testing Participants</vt:lpstr>
      <vt:lpstr>What will we be covering today?</vt:lpstr>
      <vt:lpstr>Your study is important</vt:lpstr>
      <vt:lpstr>The quality of your study</vt:lpstr>
      <vt:lpstr>Error in your data</vt:lpstr>
      <vt:lpstr>So how do we reduce error??</vt:lpstr>
      <vt:lpstr>Recruiting participants</vt:lpstr>
      <vt:lpstr>PowerPoint Presentation</vt:lpstr>
      <vt:lpstr>Recruiting participants</vt:lpstr>
      <vt:lpstr>Tips for working with participants</vt:lpstr>
      <vt:lpstr>Tips for working with participants</vt:lpstr>
      <vt:lpstr>Tips for working with participants</vt:lpstr>
      <vt:lpstr>Tips for working with participants</vt:lpstr>
      <vt:lpstr>Tips for working with participants</vt:lpstr>
      <vt:lpstr>Keeping good records</vt:lpstr>
      <vt:lpstr>No blame culture! </vt:lpstr>
      <vt:lpstr>What have we covered today?</vt:lpstr>
      <vt:lpstr>Research participation swap</vt:lpstr>
      <vt:lpstr>Q&amp;A for research proposal  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Yong Foo</dc:creator>
  <cp:lastModifiedBy>Yong Foo</cp:lastModifiedBy>
  <cp:revision>51</cp:revision>
  <dcterms:created xsi:type="dcterms:W3CDTF">2017-08-30T04:36:32Z</dcterms:created>
  <dcterms:modified xsi:type="dcterms:W3CDTF">2017-08-31T03:05:55Z</dcterms:modified>
</cp:coreProperties>
</file>