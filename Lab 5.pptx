
<file path=[Content_Types].xml><?xml version="1.0" encoding="utf-8"?>
<Types xmlns="http://schemas.openxmlformats.org/package/2006/content-types">
  <Default Extension="xml" ContentType="application/xml"/>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style1.xml" ContentType="application/vnd.ms-office.chartstyle+xml"/>
  <Override PartName="/ppt/charts/colors1.xml" ContentType="application/vnd.ms-office.chartcolor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30"/>
  </p:notesMasterIdLst>
  <p:sldIdLst>
    <p:sldId id="285" r:id="rId2"/>
    <p:sldId id="286" r:id="rId3"/>
    <p:sldId id="257" r:id="rId4"/>
    <p:sldId id="258" r:id="rId5"/>
    <p:sldId id="259"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87" r:id="rId19"/>
    <p:sldId id="288" r:id="rId20"/>
    <p:sldId id="274" r:id="rId21"/>
    <p:sldId id="289" r:id="rId22"/>
    <p:sldId id="275" r:id="rId23"/>
    <p:sldId id="276" r:id="rId24"/>
    <p:sldId id="277" r:id="rId25"/>
    <p:sldId id="278" r:id="rId26"/>
    <p:sldId id="280" r:id="rId27"/>
    <p:sldId id="279"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FF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p:restoredTop sz="99497" autoAdjust="0"/>
  </p:normalViewPr>
  <p:slideViewPr>
    <p:cSldViewPr snapToGrid="0" snapToObjects="1">
      <p:cViewPr>
        <p:scale>
          <a:sx n="93" d="100"/>
          <a:sy n="93" d="100"/>
        </p:scale>
        <p:origin x="-192" y="-3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printerSettings" Target="printerSettings/printerSettings1.bin"/><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 Id="rId2" Type="http://schemas.microsoft.com/office/2011/relationships/chartStyle" Target="style1.xml"/><Relationship Id="rId3" Type="http://schemas.microsoft.com/office/2011/relationships/chartColorStyle" Target="colors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Perceived strength</c:v>
                </c:pt>
              </c:strCache>
            </c:strRef>
          </c:tx>
          <c:spPr>
            <a:solidFill>
              <a:schemeClr val="accent1"/>
            </a:solidFill>
            <a:ln>
              <a:noFill/>
            </a:ln>
            <a:effectLst/>
          </c:spPr>
          <c:invertIfNegative val="0"/>
          <c:errBars>
            <c:errBarType val="both"/>
            <c:errValType val="percentage"/>
            <c:noEndCap val="0"/>
            <c:val val="10.0"/>
          </c:errBars>
          <c:cat>
            <c:strRef>
              <c:f>Sheet1!$A$2:$A$4</c:f>
              <c:strCache>
                <c:ptCount val="3"/>
                <c:pt idx="0">
                  <c:v>Angry</c:v>
                </c:pt>
                <c:pt idx="1">
                  <c:v>Neutral</c:v>
                </c:pt>
                <c:pt idx="2">
                  <c:v>Happy</c:v>
                </c:pt>
              </c:strCache>
            </c:strRef>
          </c:cat>
          <c:val>
            <c:numRef>
              <c:f>Sheet1!$B$2:$B$4</c:f>
              <c:numCache>
                <c:formatCode>General</c:formatCode>
                <c:ptCount val="3"/>
                <c:pt idx="0">
                  <c:v>6.0</c:v>
                </c:pt>
                <c:pt idx="1">
                  <c:v>4.0</c:v>
                </c:pt>
                <c:pt idx="2">
                  <c:v>4.0</c:v>
                </c:pt>
              </c:numCache>
            </c:numRef>
          </c:val>
        </c:ser>
        <c:dLbls>
          <c:showLegendKey val="0"/>
          <c:showVal val="0"/>
          <c:showCatName val="0"/>
          <c:showSerName val="0"/>
          <c:showPercent val="0"/>
          <c:showBubbleSize val="0"/>
        </c:dLbls>
        <c:gapWidth val="182"/>
        <c:axId val="2137795608"/>
        <c:axId val="2137797320"/>
      </c:barChart>
      <c:catAx>
        <c:axId val="213779560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Helvetica" charset="0"/>
                <a:ea typeface="Helvetica" charset="0"/>
                <a:cs typeface="Helvetica" charset="0"/>
              </a:defRPr>
            </a:pPr>
            <a:endParaRPr lang="en-US"/>
          </a:p>
        </c:txPr>
        <c:crossAx val="2137797320"/>
        <c:crosses val="autoZero"/>
        <c:auto val="1"/>
        <c:lblAlgn val="ctr"/>
        <c:lblOffset val="100"/>
        <c:noMultiLvlLbl val="0"/>
      </c:catAx>
      <c:valAx>
        <c:axId val="2137797320"/>
        <c:scaling>
          <c:orientation val="minMax"/>
          <c:min val="1.0"/>
        </c:scaling>
        <c:delete val="0"/>
        <c:axPos val="l"/>
        <c:numFmt formatCode="General"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crossAx val="21377956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9425AE-AD16-5942-84CD-3179FB7C9CF5}" type="datetimeFigureOut">
              <a:rPr lang="en-US" smtClean="0"/>
              <a:t>7/09/17</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815CFF-B998-1A4F-8D57-043D35839814}" type="slidenum">
              <a:rPr lang="en-US" smtClean="0"/>
              <a:t>‹#›</a:t>
            </a:fld>
            <a:endParaRPr lang="en-US"/>
          </a:p>
        </p:txBody>
      </p:sp>
    </p:spTree>
    <p:extLst>
      <p:ext uri="{BB962C8B-B14F-4D97-AF65-F5344CB8AC3E}">
        <p14:creationId xmlns:p14="http://schemas.microsoft.com/office/powerpoint/2010/main" val="1403445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D9F94F61-E612-8940-949E-BCA1D80382DA}" type="slidenum">
              <a:rPr lang="en-US" sz="1200"/>
              <a:pPr/>
              <a:t>6</a:t>
            </a:fld>
            <a:endParaRPr lang="en-US" sz="1200"/>
          </a:p>
        </p:txBody>
      </p:sp>
      <p:sp>
        <p:nvSpPr>
          <p:cNvPr id="23554" name="Rectangle 1026"/>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6627" name="Rectangle 1027"/>
          <p:cNvSpPr>
            <a:spLocks noGrp="1" noChangeArrowheads="1"/>
          </p:cNvSpPr>
          <p:nvPr>
            <p:ph type="body" idx="1"/>
          </p:nvPr>
        </p:nvSpPr>
        <p:spPr>
          <a:noFill/>
        </p:spPr>
        <p:txBody>
          <a:bodyPr/>
          <a:lstStyle/>
          <a:p>
            <a:pPr eaLnBrk="1" hangingPunct="1"/>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9D64C1C2-CB7A-2543-B51C-938A4E2FDBD8}" type="slidenum">
              <a:rPr lang="en-US" sz="1200"/>
              <a:pPr/>
              <a:t>7</a:t>
            </a:fld>
            <a:endParaRPr lang="en-US" sz="1200"/>
          </a:p>
        </p:txBody>
      </p:sp>
      <p:sp>
        <p:nvSpPr>
          <p:cNvPr id="24578" name="Rectangle 1026"/>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8675" name="Rectangle 1027"/>
          <p:cNvSpPr>
            <a:spLocks noGrp="1" noChangeArrowheads="1"/>
          </p:cNvSpPr>
          <p:nvPr>
            <p:ph type="body" idx="1"/>
          </p:nvPr>
        </p:nvSpPr>
        <p:spPr>
          <a:noFill/>
        </p:spPr>
        <p:txBody>
          <a:bodyPr/>
          <a:lstStyle/>
          <a:p>
            <a:pPr eaLnBrk="1" hangingPunct="1"/>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9D64C1C2-CB7A-2543-B51C-938A4E2FDBD8}" type="slidenum">
              <a:rPr lang="en-US" sz="1200"/>
              <a:pPr/>
              <a:t>8</a:t>
            </a:fld>
            <a:endParaRPr lang="en-US" sz="1200"/>
          </a:p>
        </p:txBody>
      </p:sp>
      <p:sp>
        <p:nvSpPr>
          <p:cNvPr id="24578" name="Rectangle 1026"/>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8675" name="Rectangle 1027"/>
          <p:cNvSpPr>
            <a:spLocks noGrp="1" noChangeArrowheads="1"/>
          </p:cNvSpPr>
          <p:nvPr>
            <p:ph type="body" idx="1"/>
          </p:nvPr>
        </p:nvSpPr>
        <p:spPr>
          <a:noFill/>
        </p:spPr>
        <p:txBody>
          <a:bodyPr/>
          <a:lstStyle/>
          <a:p>
            <a:pPr eaLnBrk="1" hangingPunct="1"/>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9D64C1C2-CB7A-2543-B51C-938A4E2FDBD8}" type="slidenum">
              <a:rPr lang="en-US" sz="1200"/>
              <a:pPr/>
              <a:t>9</a:t>
            </a:fld>
            <a:endParaRPr lang="en-US" sz="1200"/>
          </a:p>
        </p:txBody>
      </p:sp>
      <p:sp>
        <p:nvSpPr>
          <p:cNvPr id="24578" name="Rectangle 1026"/>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8675" name="Rectangle 1027"/>
          <p:cNvSpPr>
            <a:spLocks noGrp="1" noChangeArrowheads="1"/>
          </p:cNvSpPr>
          <p:nvPr>
            <p:ph type="body" idx="1"/>
          </p:nvPr>
        </p:nvSpPr>
        <p:spPr>
          <a:noFill/>
        </p:spPr>
        <p:txBody>
          <a:bodyPr/>
          <a:lstStyle/>
          <a:p>
            <a:pPr eaLnBrk="1" hangingPunct="1"/>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9D64C1C2-CB7A-2543-B51C-938A4E2FDBD8}" type="slidenum">
              <a:rPr lang="en-US" sz="1200"/>
              <a:pPr/>
              <a:t>10</a:t>
            </a:fld>
            <a:endParaRPr lang="en-US" sz="1200"/>
          </a:p>
        </p:txBody>
      </p:sp>
      <p:sp>
        <p:nvSpPr>
          <p:cNvPr id="24578" name="Rectangle 1026"/>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8675" name="Rectangle 1027"/>
          <p:cNvSpPr>
            <a:spLocks noGrp="1" noChangeArrowheads="1"/>
          </p:cNvSpPr>
          <p:nvPr>
            <p:ph type="body" idx="1"/>
          </p:nvPr>
        </p:nvSpPr>
        <p:spPr>
          <a:noFill/>
        </p:spPr>
        <p:txBody>
          <a:bodyPr/>
          <a:lstStyle/>
          <a:p>
            <a:pPr eaLnBrk="1" hangingPunct="1"/>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9D64C1C2-CB7A-2543-B51C-938A4E2FDBD8}" type="slidenum">
              <a:rPr lang="en-US" sz="1200"/>
              <a:pPr/>
              <a:t>11</a:t>
            </a:fld>
            <a:endParaRPr lang="en-US" sz="1200"/>
          </a:p>
        </p:txBody>
      </p:sp>
      <p:sp>
        <p:nvSpPr>
          <p:cNvPr id="24578" name="Rectangle 1026"/>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8675" name="Rectangle 1027"/>
          <p:cNvSpPr>
            <a:spLocks noGrp="1" noChangeArrowheads="1"/>
          </p:cNvSpPr>
          <p:nvPr>
            <p:ph type="body" idx="1"/>
          </p:nvPr>
        </p:nvSpPr>
        <p:spPr>
          <a:noFill/>
        </p:spPr>
        <p:txBody>
          <a:bodyPr/>
          <a:lstStyle/>
          <a:p>
            <a:pPr eaLnBrk="1" hangingPunct="1"/>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FE846DAE-602A-EA4F-9D2A-CFAE936065E5}" type="slidenum">
              <a:rPr lang="en-US" sz="1200"/>
              <a:pPr/>
              <a:t>12</a:t>
            </a:fld>
            <a:endParaRPr lang="en-US" sz="1200"/>
          </a:p>
        </p:txBody>
      </p:sp>
      <p:sp>
        <p:nvSpPr>
          <p:cNvPr id="307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40963" name="Rectangle 3"/>
          <p:cNvSpPr>
            <a:spLocks noGrp="1" noChangeArrowheads="1"/>
          </p:cNvSpPr>
          <p:nvPr>
            <p:ph type="body" idx="1"/>
          </p:nvPr>
        </p:nvSpPr>
        <p:spPr>
          <a:noFill/>
        </p:spPr>
        <p:txBody>
          <a:bodyPr/>
          <a:lstStyle/>
          <a:p>
            <a:pPr eaLnBrk="1" hangingPunct="1"/>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4F02236D-47C3-CB47-9C55-1B03481EF464}" type="slidenum">
              <a:rPr lang="en-US" sz="1200"/>
              <a:pPr/>
              <a:t>13</a:t>
            </a:fld>
            <a:endParaRPr lang="en-US" sz="1200"/>
          </a:p>
        </p:txBody>
      </p:sp>
      <p:sp>
        <p:nvSpPr>
          <p:cNvPr id="317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43011" name="Rectangle 3"/>
          <p:cNvSpPr>
            <a:spLocks noGrp="1" noChangeArrowheads="1"/>
          </p:cNvSpPr>
          <p:nvPr>
            <p:ph type="body" idx="1"/>
          </p:nvPr>
        </p:nvSpPr>
        <p:spPr>
          <a:noFill/>
        </p:spPr>
        <p:txBody>
          <a:bodyPr/>
          <a:lstStyle/>
          <a:p>
            <a:pPr eaLnBrk="1" hangingPunct="1"/>
            <a:r>
              <a:rPr lang="en-US" dirty="0"/>
              <a:t>Don</a:t>
            </a:r>
            <a:r>
              <a:rPr lang="en-AU" dirty="0"/>
              <a:t>’</a:t>
            </a:r>
            <a:r>
              <a:rPr lang="en-US" altLang="ja-JP" dirty="0"/>
              <a:t>t try and fake it…</a:t>
            </a:r>
          </a:p>
          <a:p>
            <a:pPr lvl="1" eaLnBrk="1" hangingPunct="1"/>
            <a:r>
              <a:rPr lang="en-US" dirty="0"/>
              <a:t>If you don</a:t>
            </a:r>
            <a:r>
              <a:rPr lang="en-AU" dirty="0"/>
              <a:t>’</a:t>
            </a:r>
            <a:r>
              <a:rPr lang="en-US" altLang="ja-JP" dirty="0"/>
              <a:t>t understand it, I promise they won</a:t>
            </a:r>
            <a:r>
              <a:rPr lang="en-AU" altLang="ja-JP" dirty="0"/>
              <a:t>’</a:t>
            </a:r>
            <a:r>
              <a:rPr lang="en-US" altLang="ja-JP" dirty="0"/>
              <a:t>t!</a:t>
            </a:r>
            <a:br>
              <a:rPr lang="en-US" altLang="ja-JP" dirty="0"/>
            </a:br>
            <a:endParaRPr lang="en-US" altLang="ja-JP" dirty="0"/>
          </a:p>
          <a:p>
            <a:pPr eaLnBrk="1" hangingPunct="1"/>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6B62E6D-B5BC-7D43-B0C9-2235F11A1698}" type="slidenum">
              <a:rPr lang="en-US" sz="1200"/>
              <a:pPr/>
              <a:t>14</a:t>
            </a:fld>
            <a:endParaRPr lang="en-US" sz="1200"/>
          </a:p>
        </p:txBody>
      </p:sp>
      <p:sp>
        <p:nvSpPr>
          <p:cNvPr id="368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45059"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47106"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sz="1000" dirty="0">
              <a:latin typeface="Calibri" charset="0"/>
            </a:endParaRPr>
          </a:p>
        </p:txBody>
      </p:sp>
      <p:sp>
        <p:nvSpPr>
          <p:cNvPr id="47107"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16F3511-7D2B-AC49-827F-8BDC3F893C78}" type="slidenum">
              <a:rPr lang="en-US" sz="1200">
                <a:latin typeface="Calibri" charset="0"/>
              </a:rPr>
              <a:pPr eaLnBrk="1" hangingPunct="1"/>
              <a:t>15</a:t>
            </a:fld>
            <a:endParaRPr lang="en-US" sz="1200">
              <a:latin typeface="Calibri"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04B7414F-9A84-0D42-8500-F5D1F0467C82}" type="slidenum">
              <a:rPr lang="en-US" sz="1200"/>
              <a:pPr/>
              <a:t>16</a:t>
            </a:fld>
            <a:endParaRPr lang="en-US" sz="1200"/>
          </a:p>
        </p:txBody>
      </p:sp>
      <p:sp>
        <p:nvSpPr>
          <p:cNvPr id="327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49155" name="Rectangle 3"/>
          <p:cNvSpPr>
            <a:spLocks noGrp="1" noChangeArrowheads="1"/>
          </p:cNvSpPr>
          <p:nvPr>
            <p:ph type="body" idx="1"/>
          </p:nvPr>
        </p:nvSpPr>
        <p:spPr>
          <a:noFill/>
        </p:spPr>
        <p:txBody>
          <a:bodyPr/>
          <a:lstStyle/>
          <a:p>
            <a:pPr eaLnBrk="1" hangingPunct="1"/>
            <a:r>
              <a:rPr lang="en-AU" dirty="0"/>
              <a:t>AA = avoid acronyms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49113C79-02F4-B74F-9671-14FB262B493A}" type="slidenum">
              <a:rPr lang="en-US" sz="1200"/>
              <a:pPr/>
              <a:t>17</a:t>
            </a:fld>
            <a:endParaRPr lang="en-US" sz="1200"/>
          </a:p>
        </p:txBody>
      </p:sp>
      <p:sp>
        <p:nvSpPr>
          <p:cNvPr id="337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48131" name="Rectangle 3"/>
          <p:cNvSpPr>
            <a:spLocks noGrp="1" noChangeArrowheads="1"/>
          </p:cNvSpPr>
          <p:nvPr>
            <p:ph type="body" idx="1"/>
          </p:nvPr>
        </p:nvSpPr>
        <p:spPr/>
        <p:txBody>
          <a:bodyPr/>
          <a:lstStyle/>
          <a:p>
            <a:pPr eaLnBrk="1" hangingPunct="1">
              <a:defRPr/>
            </a:pPr>
            <a:r>
              <a:rPr lang="en-US" dirty="0" smtClean="0"/>
              <a:t>Think about your delivery</a:t>
            </a:r>
          </a:p>
          <a:p>
            <a:pPr marL="171450" indent="-171450" eaLnBrk="1" hangingPunct="1">
              <a:buFontTx/>
              <a:buChar char="-"/>
              <a:defRPr/>
            </a:pPr>
            <a:r>
              <a:rPr lang="en-AU" dirty="0" smtClean="0"/>
              <a:t>Get nervous and normally rely on notes?</a:t>
            </a:r>
          </a:p>
          <a:p>
            <a:pPr marL="171450" indent="-171450" eaLnBrk="1" hangingPunct="1">
              <a:buFontTx/>
              <a:buChar char="-"/>
              <a:defRPr/>
            </a:pPr>
            <a:r>
              <a:rPr lang="en-AU" dirty="0" smtClean="0"/>
              <a:t>Get nervous and speak </a:t>
            </a:r>
            <a:r>
              <a:rPr lang="en-AU" smtClean="0"/>
              <a:t>really quickly?</a:t>
            </a:r>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94750A6-B02F-594D-B093-53C8AEB54CA1}" type="datetimeFigureOut">
              <a:rPr lang="en-US" smtClean="0"/>
              <a:t>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4750A6-B02F-594D-B093-53C8AEB54CA1}" type="datetimeFigureOut">
              <a:rPr lang="en-US" smtClean="0"/>
              <a:t>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4750A6-B02F-594D-B093-53C8AEB54CA1}" type="datetimeFigureOut">
              <a:rPr lang="en-US" smtClean="0"/>
              <a:t>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94750A6-B02F-594D-B093-53C8AEB54CA1}" type="datetimeFigureOut">
              <a:rPr lang="en-US" smtClean="0"/>
              <a:t>7/09/17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94750A6-B02F-594D-B093-53C8AEB54CA1}" type="datetimeFigureOut">
              <a:rPr lang="en-US" smtClean="0"/>
              <a:t>7/09/17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4750A6-B02F-594D-B093-53C8AEB54CA1}" type="datetimeFigureOut">
              <a:rPr lang="en-US" smtClean="0"/>
              <a:t>7/09/17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4750A6-B02F-594D-B093-53C8AEB54CA1}" type="datetimeFigureOut">
              <a:rPr lang="en-US" smtClean="0"/>
              <a:t>7/09/17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4750A6-B02F-594D-B093-53C8AEB54CA1}" type="datetimeFigureOut">
              <a:rPr lang="en-US" smtClean="0"/>
              <a:t>7/09/17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4750A6-B02F-594D-B093-53C8AEB54CA1}" type="datetimeFigureOut">
              <a:rPr lang="en-US" smtClean="0"/>
              <a:t>7/09/17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4750A6-B02F-594D-B093-53C8AEB54CA1}" type="datetimeFigureOut">
              <a:rPr lang="en-US" smtClean="0"/>
              <a:t>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4750A6-B02F-594D-B093-53C8AEB54CA1}" type="datetimeFigureOut">
              <a:rPr lang="en-US" smtClean="0"/>
              <a:t>7/09/17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FA332D-1AED-144E-9053-6E1AB4C3025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4750A6-B02F-594D-B093-53C8AEB54CA1}" type="datetimeFigureOut">
              <a:rPr lang="en-US" smtClean="0"/>
              <a:t>7/09/17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A332D-1AED-144E-9053-6E1AB4C30257}" type="slidenum">
              <a:rPr lang="en-US" smtClean="0"/>
              <a:t>‹#›</a:t>
            </a:fld>
            <a:endParaRPr lang="en-US"/>
          </a:p>
        </p:txBody>
      </p:sp>
    </p:spTree>
    <p:extLst>
      <p:ext uri="{BB962C8B-B14F-4D97-AF65-F5344CB8AC3E}">
        <p14:creationId xmlns:p14="http://schemas.microsoft.com/office/powerpoint/2010/main" val="2797047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1" Type="http://schemas.openxmlformats.org/officeDocument/2006/relationships/image" Target="../media/image11.png"/><Relationship Id="rId12" Type="http://schemas.openxmlformats.org/officeDocument/2006/relationships/image" Target="../media/image12.jpeg"/><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 Id="rId7" Type="http://schemas.openxmlformats.org/officeDocument/2006/relationships/image" Target="../media/image7.jpeg"/><Relationship Id="rId8" Type="http://schemas.openxmlformats.org/officeDocument/2006/relationships/image" Target="../media/image8.jpeg"/><Relationship Id="rId9" Type="http://schemas.openxmlformats.org/officeDocument/2006/relationships/image" Target="../media/image9.jpeg"/><Relationship Id="rId10"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4" Type="http://schemas.openxmlformats.org/officeDocument/2006/relationships/image" Target="../media/image15.jpeg"/><Relationship Id="rId5"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image" Target="../media/image21.jpe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uwa.qualtrics.com/jfe/form/SV_06O18XgxjwkwQKx"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3183915" cy="2861733"/>
          </a:xfrm>
          <a:prstGeom prst="rect">
            <a:avLst/>
          </a:prstGeom>
        </p:spPr>
      </p:pic>
      <p:pic>
        <p:nvPicPr>
          <p:cNvPr id="6" name="Picture 5"/>
          <p:cNvPicPr>
            <a:picLocks noChangeAspect="1"/>
          </p:cNvPicPr>
          <p:nvPr/>
        </p:nvPicPr>
        <p:blipFill>
          <a:blip r:embed="rId3"/>
          <a:stretch>
            <a:fillRect/>
          </a:stretch>
        </p:blipFill>
        <p:spPr>
          <a:xfrm>
            <a:off x="7734300" y="4368800"/>
            <a:ext cx="4457700" cy="2489200"/>
          </a:xfrm>
          <a:prstGeom prst="rect">
            <a:avLst/>
          </a:prstGeom>
        </p:spPr>
      </p:pic>
      <p:sp>
        <p:nvSpPr>
          <p:cNvPr id="7" name="TextBox 6"/>
          <p:cNvSpPr txBox="1"/>
          <p:nvPr/>
        </p:nvSpPr>
        <p:spPr>
          <a:xfrm>
            <a:off x="2421465" y="2472267"/>
            <a:ext cx="7357533" cy="1200329"/>
          </a:xfrm>
          <a:prstGeom prst="rect">
            <a:avLst/>
          </a:prstGeom>
          <a:noFill/>
        </p:spPr>
        <p:txBody>
          <a:bodyPr wrap="square" rtlCol="0">
            <a:spAutoFit/>
          </a:bodyPr>
          <a:lstStyle/>
          <a:p>
            <a:pPr algn="ctr"/>
            <a:r>
              <a:rPr lang="en-US" sz="7200" b="1" dirty="0" smtClean="0">
                <a:solidFill>
                  <a:schemeClr val="bg2">
                    <a:lumMod val="50000"/>
                  </a:schemeClr>
                </a:solidFill>
                <a:latin typeface="Arial Narrow" charset="0"/>
                <a:ea typeface="Arial Narrow" charset="0"/>
                <a:cs typeface="Arial Narrow" charset="0"/>
              </a:rPr>
              <a:t>EMOTION SCIENCE</a:t>
            </a:r>
            <a:endParaRPr lang="en-US" sz="7200" b="1" dirty="0">
              <a:solidFill>
                <a:schemeClr val="bg2">
                  <a:lumMod val="50000"/>
                </a:schemeClr>
              </a:solidFill>
              <a:latin typeface="Arial Narrow" charset="0"/>
              <a:ea typeface="Arial Narrow" charset="0"/>
              <a:cs typeface="Arial Narrow" charset="0"/>
            </a:endParaRPr>
          </a:p>
        </p:txBody>
      </p:sp>
      <p:cxnSp>
        <p:nvCxnSpPr>
          <p:cNvPr id="9" name="Straight Connector 8"/>
          <p:cNvCxnSpPr/>
          <p:nvPr/>
        </p:nvCxnSpPr>
        <p:spPr>
          <a:xfrm flipV="1">
            <a:off x="0" y="3557937"/>
            <a:ext cx="12192000" cy="23463"/>
          </a:xfrm>
          <a:prstGeom prst="line">
            <a:avLst/>
          </a:prstGeom>
          <a:ln w="47625">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246185" y="3672596"/>
            <a:ext cx="1699632" cy="871970"/>
          </a:xfrm>
          <a:prstGeom prst="rect">
            <a:avLst/>
          </a:prstGeom>
          <a:noFill/>
        </p:spPr>
        <p:txBody>
          <a:bodyPr wrap="none" rtlCol="0">
            <a:spAutoFit/>
          </a:bodyPr>
          <a:lstStyle/>
          <a:p>
            <a:pPr algn="ctr"/>
            <a:r>
              <a:rPr lang="en-US" dirty="0" err="1" smtClean="0">
                <a:solidFill>
                  <a:schemeClr val="bg2">
                    <a:lumMod val="50000"/>
                  </a:schemeClr>
                </a:solidFill>
                <a:latin typeface="Zapfino" charset="0"/>
                <a:ea typeface="Zapfino" charset="0"/>
                <a:cs typeface="Zapfino" charset="0"/>
              </a:rPr>
              <a:t>Psyc</a:t>
            </a:r>
            <a:r>
              <a:rPr lang="en-US" dirty="0" smtClean="0">
                <a:solidFill>
                  <a:schemeClr val="bg2">
                    <a:lumMod val="50000"/>
                  </a:schemeClr>
                </a:solidFill>
                <a:latin typeface="Zapfino" charset="0"/>
                <a:ea typeface="Zapfino" charset="0"/>
                <a:cs typeface="Zapfino" charset="0"/>
              </a:rPr>
              <a:t> 3310</a:t>
            </a:r>
            <a:endParaRPr lang="en-US" dirty="0">
              <a:solidFill>
                <a:schemeClr val="bg2">
                  <a:lumMod val="50000"/>
                </a:schemeClr>
              </a:solidFill>
              <a:latin typeface="Zapfino" charset="0"/>
              <a:ea typeface="Zapfino" charset="0"/>
              <a:cs typeface="Zapfino" charset="0"/>
            </a:endParaRPr>
          </a:p>
        </p:txBody>
      </p:sp>
    </p:spTree>
    <p:extLst>
      <p:ext uri="{BB962C8B-B14F-4D97-AF65-F5344CB8AC3E}">
        <p14:creationId xmlns:p14="http://schemas.microsoft.com/office/powerpoint/2010/main" val="194840550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4635" y="4640254"/>
            <a:ext cx="8915400" cy="1726106"/>
          </a:xfrm>
        </p:spPr>
        <p:txBody>
          <a:bodyPr>
            <a:noAutofit/>
          </a:bodyPr>
          <a:lstStyle/>
          <a:p>
            <a:pPr algn="l"/>
            <a:r>
              <a:rPr lang="en-US" sz="5400" b="1" dirty="0" smtClean="0">
                <a:solidFill>
                  <a:schemeClr val="bg2">
                    <a:lumMod val="50000"/>
                  </a:schemeClr>
                </a:solidFill>
                <a:latin typeface="+mn-lt"/>
              </a:rPr>
              <a:t/>
            </a:r>
            <a:br>
              <a:rPr lang="en-US" sz="5400" b="1" dirty="0" smtClean="0">
                <a:solidFill>
                  <a:schemeClr val="bg2">
                    <a:lumMod val="50000"/>
                  </a:schemeClr>
                </a:solidFill>
                <a:latin typeface="+mn-lt"/>
              </a:rPr>
            </a:br>
            <a:r>
              <a:rPr lang="en-US" b="1" dirty="0" smtClean="0">
                <a:solidFill>
                  <a:schemeClr val="bg2">
                    <a:lumMod val="50000"/>
                  </a:schemeClr>
                </a:solidFill>
                <a:latin typeface="Helvetica" charset="0"/>
                <a:ea typeface="Helvetica" charset="0"/>
                <a:cs typeface="Helvetica" charset="0"/>
              </a:rPr>
              <a:t>Lab 5 </a:t>
            </a:r>
            <a:r>
              <a:rPr lang="en-US" b="1" dirty="0">
                <a:solidFill>
                  <a:schemeClr val="bg2">
                    <a:lumMod val="50000"/>
                  </a:schemeClr>
                </a:solidFill>
                <a:latin typeface="Helvetica" charset="0"/>
                <a:ea typeface="Helvetica" charset="0"/>
                <a:cs typeface="Helvetica" charset="0"/>
              </a:rPr>
              <a:t/>
            </a:r>
            <a:br>
              <a:rPr lang="en-US" b="1" dirty="0">
                <a:solidFill>
                  <a:schemeClr val="bg2">
                    <a:lumMod val="50000"/>
                  </a:schemeClr>
                </a:solidFill>
                <a:latin typeface="Helvetica" charset="0"/>
                <a:ea typeface="Helvetica" charset="0"/>
                <a:cs typeface="Helvetica" charset="0"/>
              </a:rPr>
            </a:br>
            <a:r>
              <a:rPr lang="en-US" b="1" dirty="0" smtClean="0">
                <a:solidFill>
                  <a:schemeClr val="bg2">
                    <a:lumMod val="50000"/>
                  </a:schemeClr>
                </a:solidFill>
                <a:latin typeface="Helvetica" charset="0"/>
                <a:ea typeface="Helvetica" charset="0"/>
                <a:cs typeface="Helvetica" charset="0"/>
              </a:rPr>
              <a:t>Presenting research and running the testing session</a:t>
            </a:r>
            <a:endParaRPr lang="en-US" b="1"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1896898221"/>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Presenting Research	</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You’ll be presenting the results of your research projects in your groups in the week beginning the 23</a:t>
            </a:r>
            <a:r>
              <a:rPr lang="en-US" baseline="30000" dirty="0" smtClean="0">
                <a:solidFill>
                  <a:schemeClr val="bg2">
                    <a:lumMod val="50000"/>
                  </a:schemeClr>
                </a:solidFill>
                <a:latin typeface="Helvetica" charset="0"/>
                <a:ea typeface="Helvetica" charset="0"/>
                <a:cs typeface="Helvetica" charset="0"/>
              </a:rPr>
              <a:t>rd</a:t>
            </a:r>
            <a:r>
              <a:rPr lang="en-US" sz="2800" dirty="0" smtClean="0">
                <a:solidFill>
                  <a:schemeClr val="bg2">
                    <a:lumMod val="50000"/>
                  </a:schemeClr>
                </a:solidFill>
                <a:latin typeface="Helvetica" charset="0"/>
                <a:ea typeface="Helvetica" charset="0"/>
                <a:cs typeface="Helvetica" charset="0"/>
              </a:rPr>
              <a:t> of October</a:t>
            </a:r>
          </a:p>
          <a:p>
            <a:pPr>
              <a:buFont typeface="Arial" charset="0"/>
              <a:buChar char="•"/>
            </a:pPr>
            <a:r>
              <a:rPr lang="en-US" sz="2600" dirty="0" smtClean="0">
                <a:solidFill>
                  <a:schemeClr val="bg2">
                    <a:lumMod val="50000"/>
                  </a:schemeClr>
                </a:solidFill>
                <a:latin typeface="Helvetica" charset="0"/>
                <a:ea typeface="Helvetica" charset="0"/>
                <a:cs typeface="Helvetica" charset="0"/>
              </a:rPr>
              <a:t>Today:</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What you should cover</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Some tips for making your presentation easy to follow</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Based on a presentation by </a:t>
            </a:r>
            <a:r>
              <a:rPr lang="en-US" sz="2400" dirty="0" err="1" smtClean="0">
                <a:solidFill>
                  <a:schemeClr val="bg2">
                    <a:lumMod val="50000"/>
                  </a:schemeClr>
                </a:solidFill>
                <a:latin typeface="Helvetica" charset="0"/>
                <a:ea typeface="Helvetica" charset="0"/>
                <a:cs typeface="Helvetica" charset="0"/>
              </a:rPr>
              <a:t>Dr</a:t>
            </a:r>
            <a:r>
              <a:rPr lang="en-US" sz="2400" dirty="0" smtClean="0">
                <a:solidFill>
                  <a:schemeClr val="bg2">
                    <a:lumMod val="50000"/>
                  </a:schemeClr>
                </a:solidFill>
                <a:latin typeface="Helvetica" charset="0"/>
                <a:ea typeface="Helvetica" charset="0"/>
                <a:cs typeface="Helvetica" charset="0"/>
              </a:rPr>
              <a:t> Louise Ewing (excellent public speaker!)</a:t>
            </a: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140933285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Helvetica" charset="0"/>
                <a:ea typeface="Helvetica" charset="0"/>
                <a:cs typeface="Helvetica" charset="0"/>
              </a:rPr>
              <a:t>Why</a:t>
            </a:r>
            <a:r>
              <a:rPr lang="en-US" b="1" dirty="0" smtClean="0">
                <a:solidFill>
                  <a:schemeClr val="bg2">
                    <a:lumMod val="50000"/>
                  </a:schemeClr>
                </a:solidFill>
                <a:latin typeface="Helvetica" charset="0"/>
                <a:ea typeface="Helvetica" charset="0"/>
                <a:cs typeface="Helvetica" charset="0"/>
              </a:rPr>
              <a:t> present research?</a:t>
            </a:r>
            <a:r>
              <a:rPr lang="en-US" dirty="0" smtClean="0">
                <a:solidFill>
                  <a:schemeClr val="bg2">
                    <a:lumMod val="50000"/>
                  </a:schemeClr>
                </a:solidFill>
                <a:latin typeface="Helvetica" charset="0"/>
                <a:ea typeface="Helvetica" charset="0"/>
                <a:cs typeface="Helvetica" charset="0"/>
              </a:rPr>
              <a:t>	</a:t>
            </a:r>
            <a:endParaRPr lang="en-US"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Communication!</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To other researchers: communicate findings, influence new research, form collaborations</a:t>
            </a:r>
            <a:endParaRPr lang="en-US" sz="2600" dirty="0">
              <a:solidFill>
                <a:schemeClr val="bg2">
                  <a:lumMod val="50000"/>
                </a:schemeClr>
              </a:solidFill>
              <a:latin typeface="Helvetica" charset="0"/>
              <a:ea typeface="Helvetica" charset="0"/>
              <a:cs typeface="Helvetica" charset="0"/>
            </a:endParaRPr>
          </a:p>
          <a:p>
            <a:pPr lvl="1">
              <a:buFont typeface="Arial" charset="0"/>
              <a:buChar char="•"/>
            </a:pPr>
            <a:r>
              <a:rPr lang="en-US" sz="2400" dirty="0" smtClean="0">
                <a:solidFill>
                  <a:schemeClr val="bg2">
                    <a:lumMod val="50000"/>
                  </a:schemeClr>
                </a:solidFill>
                <a:latin typeface="Helvetica" charset="0"/>
                <a:ea typeface="Helvetica" charset="0"/>
                <a:cs typeface="Helvetica" charset="0"/>
              </a:rPr>
              <a:t>To the general public: explain important ideas, give returns for research funding, promote importance of research area &amp; science in general</a:t>
            </a:r>
          </a:p>
          <a:p>
            <a:pPr lvl="1">
              <a:buFont typeface="Arial" charset="0"/>
              <a:buChar char="•"/>
            </a:pPr>
            <a:endParaRPr lang="en-US" sz="2400" dirty="0">
              <a:solidFill>
                <a:schemeClr val="bg2">
                  <a:lumMod val="50000"/>
                </a:schemeClr>
              </a:solidFill>
              <a:latin typeface="Helvetica" charset="0"/>
              <a:ea typeface="Helvetica" charset="0"/>
              <a:cs typeface="Helvetica" charset="0"/>
            </a:endParaRPr>
          </a:p>
          <a:p>
            <a:pPr>
              <a:buFont typeface="Arial" charset="0"/>
              <a:buChar char="•"/>
            </a:pPr>
            <a:r>
              <a:rPr lang="en-US" sz="2600" dirty="0" smtClean="0">
                <a:solidFill>
                  <a:schemeClr val="bg2">
                    <a:lumMod val="50000"/>
                  </a:schemeClr>
                </a:solidFill>
                <a:latin typeface="Helvetica" charset="0"/>
                <a:ea typeface="Helvetica" charset="0"/>
                <a:cs typeface="Helvetica" charset="0"/>
              </a:rPr>
              <a:t>Think about your audience </a:t>
            </a:r>
            <a:endParaRPr lang="en-US" sz="2600" dirty="0">
              <a:solidFill>
                <a:schemeClr val="bg2">
                  <a:lumMod val="50000"/>
                </a:schemeClr>
              </a:solidFill>
              <a:latin typeface="Helvetica" charset="0"/>
              <a:ea typeface="Helvetica" charset="0"/>
              <a:cs typeface="Helvetica" charset="0"/>
            </a:endParaRPr>
          </a:p>
          <a:p>
            <a:pPr lvl="1">
              <a:buFont typeface="Arial" charset="0"/>
              <a:buChar char="•"/>
            </a:pPr>
            <a:r>
              <a:rPr lang="en-US" sz="2400" dirty="0" smtClean="0">
                <a:solidFill>
                  <a:schemeClr val="bg2">
                    <a:lumMod val="50000"/>
                  </a:schemeClr>
                </a:solidFill>
                <a:latin typeface="Helvetica" charset="0"/>
                <a:ea typeface="Helvetica" charset="0"/>
                <a:cs typeface="Helvetica" charset="0"/>
              </a:rPr>
              <a:t>What do they already know?</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What will they understand easily?</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What are they interested in?</a:t>
            </a:r>
          </a:p>
        </p:txBody>
      </p:sp>
    </p:spTree>
    <p:extLst>
      <p:ext uri="{BB962C8B-B14F-4D97-AF65-F5344CB8AC3E}">
        <p14:creationId xmlns:p14="http://schemas.microsoft.com/office/powerpoint/2010/main" val="145807075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Helvetica" charset="0"/>
                <a:ea typeface="Helvetica" charset="0"/>
                <a:cs typeface="Helvetica" charset="0"/>
              </a:rPr>
              <a:t>Format</a:t>
            </a:r>
            <a:r>
              <a:rPr lang="en-US" b="1" dirty="0" smtClean="0">
                <a:solidFill>
                  <a:schemeClr val="bg2">
                    <a:lumMod val="50000"/>
                  </a:schemeClr>
                </a:solidFill>
                <a:latin typeface="Helvetica" charset="0"/>
                <a:ea typeface="Helvetica" charset="0"/>
                <a:cs typeface="Helvetica" charset="0"/>
              </a:rPr>
              <a:t> of your presentation	</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Presentations should loosely follow the format of a paper:</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Introduction (motivate your research)</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Present your hypotheses or research questions</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Explain your method</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Present your results</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Discuss what these results mean for your hypotheses/research questions, for state of knowledge in the area more generally</a:t>
            </a:r>
          </a:p>
          <a:p>
            <a:pPr>
              <a:buFont typeface="Arial" charset="0"/>
              <a:buChar char="•"/>
            </a:pPr>
            <a:endParaRPr lang="en-US" sz="26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3541614856"/>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Maximize </a:t>
            </a:r>
            <a:r>
              <a:rPr lang="en-US" b="1" dirty="0">
                <a:solidFill>
                  <a:schemeClr val="accent1">
                    <a:lumMod val="75000"/>
                  </a:schemeClr>
                </a:solidFill>
                <a:latin typeface="Helvetica" charset="0"/>
                <a:ea typeface="Helvetica" charset="0"/>
                <a:cs typeface="Helvetica" charset="0"/>
              </a:rPr>
              <a:t>Interest</a:t>
            </a:r>
          </a:p>
        </p:txBody>
      </p:sp>
      <p:sp>
        <p:nvSpPr>
          <p:cNvPr id="25603" name="Rectangle 3"/>
          <p:cNvSpPr>
            <a:spLocks noGrp="1" noChangeArrowheads="1"/>
          </p:cNvSpPr>
          <p:nvPr>
            <p:ph idx="1"/>
          </p:nvPr>
        </p:nvSpPr>
        <p:spPr/>
        <p:txBody>
          <a:bodyPr/>
          <a:lstStyle/>
          <a:p>
            <a:pPr>
              <a:buFont typeface="Arial"/>
              <a:buChar char="•"/>
            </a:pPr>
            <a:r>
              <a:rPr lang="en-US" sz="2800" dirty="0">
                <a:solidFill>
                  <a:schemeClr val="bg2">
                    <a:lumMod val="50000"/>
                  </a:schemeClr>
                </a:solidFill>
                <a:latin typeface="Helvetica" charset="0"/>
                <a:ea typeface="Helvetica" charset="0"/>
                <a:cs typeface="Helvetica" charset="0"/>
              </a:rPr>
              <a:t>Use pictures/videos</a:t>
            </a:r>
          </a:p>
          <a:p>
            <a:pPr eaLnBrk="1" hangingPunct="1"/>
            <a:endParaRPr lang="en-US" dirty="0">
              <a:solidFill>
                <a:schemeClr val="bg2">
                  <a:lumMod val="50000"/>
                </a:schemeClr>
              </a:solidFill>
              <a:latin typeface="Helvetica" charset="0"/>
              <a:ea typeface="Helvetica" charset="0"/>
              <a:cs typeface="Helvetica" charset="0"/>
            </a:endParaRPr>
          </a:p>
        </p:txBody>
      </p:sp>
      <p:pic>
        <p:nvPicPr>
          <p:cNvPr id="25604" name="Picture 15" descr="katebeckinsale"/>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6401" y="4495801"/>
            <a:ext cx="2114551"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19" descr="picture_of_the_week"/>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688917" y="2781300"/>
            <a:ext cx="375920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21" descr="eiffel-tower-picture"/>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9550400" y="304800"/>
            <a:ext cx="2118784"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23" descr="EclipsesOfTheMoon_3"/>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191251" y="4797426"/>
            <a:ext cx="3232149"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25" descr="m(01-32)_g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438401" y="4829176"/>
            <a:ext cx="191981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9" name="Picture 27" descr="the-face-picture"/>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0" y="2819400"/>
            <a:ext cx="3251200" cy="195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Picture 1" descr="DSC_0678.jpg"/>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422900" y="3213100"/>
            <a:ext cx="3335867"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1" name="Picture 2" descr="Screen Shot 2013-03-01 at 4.07.56 PM.png"/>
          <p:cNvPicPr>
            <a:picLocks noChangeAspect="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6409268" y="442612"/>
            <a:ext cx="2976033"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2" name="Picture 3" descr="alex.psd"/>
          <p:cNvPicPr>
            <a:picLocks noChangeAspect="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9385301" y="4797426"/>
            <a:ext cx="2806700" cy="234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2" descr="shot_1322903679710.jpg"/>
          <p:cNvPicPr>
            <a:picLocks noChangeAspect="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4176184" y="5081589"/>
            <a:ext cx="2038349"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964649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60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6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0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6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Maximize </a:t>
            </a:r>
            <a:r>
              <a:rPr lang="en-US" b="1" dirty="0">
                <a:solidFill>
                  <a:schemeClr val="accent1">
                    <a:lumMod val="75000"/>
                  </a:schemeClr>
                </a:solidFill>
                <a:latin typeface="Helvetica" charset="0"/>
                <a:ea typeface="Helvetica" charset="0"/>
                <a:cs typeface="Helvetica" charset="0"/>
              </a:rPr>
              <a:t>Interest</a:t>
            </a:r>
          </a:p>
        </p:txBody>
      </p:sp>
      <p:sp>
        <p:nvSpPr>
          <p:cNvPr id="27651" name="Rectangle 3"/>
          <p:cNvSpPr>
            <a:spLocks noGrp="1" noChangeArrowheads="1"/>
          </p:cNvSpPr>
          <p:nvPr>
            <p:ph idx="1"/>
          </p:nvPr>
        </p:nvSpPr>
        <p:spPr/>
        <p:txBody>
          <a:bodyPr/>
          <a:lstStyle/>
          <a:p>
            <a:pPr eaLnBrk="1" hangingPunct="1">
              <a:buFont typeface="Arial"/>
              <a:buChar char="•"/>
            </a:pPr>
            <a:r>
              <a:rPr lang="en-US" sz="2800" dirty="0">
                <a:solidFill>
                  <a:schemeClr val="bg2">
                    <a:lumMod val="50000"/>
                  </a:schemeClr>
                </a:solidFill>
                <a:latin typeface="Helvetica" charset="0"/>
                <a:ea typeface="Helvetica" charset="0"/>
                <a:cs typeface="Helvetica" charset="0"/>
              </a:rPr>
              <a:t>Use pictures/videos</a:t>
            </a:r>
          </a:p>
          <a:p>
            <a:pPr lvl="1" eaLnBrk="1" hangingPunct="1">
              <a:buFont typeface="Arial"/>
              <a:buChar char="•"/>
            </a:pPr>
            <a:r>
              <a:rPr lang="en-US" sz="2400" dirty="0">
                <a:solidFill>
                  <a:schemeClr val="bg2">
                    <a:lumMod val="50000"/>
                  </a:schemeClr>
                </a:solidFill>
                <a:latin typeface="Helvetica" charset="0"/>
                <a:ea typeface="Helvetica" charset="0"/>
                <a:cs typeface="Helvetica" charset="0"/>
              </a:rPr>
              <a:t>But keep it </a:t>
            </a:r>
            <a:r>
              <a:rPr lang="en-US" sz="2400" dirty="0" smtClean="0">
                <a:solidFill>
                  <a:schemeClr val="bg2">
                    <a:lumMod val="50000"/>
                  </a:schemeClr>
                </a:solidFill>
                <a:latin typeface="Helvetica" charset="0"/>
                <a:ea typeface="Helvetica" charset="0"/>
                <a:cs typeface="Helvetica" charset="0"/>
              </a:rPr>
              <a:t>relevant</a:t>
            </a:r>
          </a:p>
          <a:p>
            <a:pPr>
              <a:buFont typeface="Arial"/>
              <a:buChar char="•"/>
            </a:pPr>
            <a:r>
              <a:rPr lang="en-US" sz="2600" dirty="0" smtClean="0">
                <a:solidFill>
                  <a:schemeClr val="bg2">
                    <a:lumMod val="50000"/>
                  </a:schemeClr>
                </a:solidFill>
                <a:latin typeface="Helvetica" charset="0"/>
                <a:ea typeface="Helvetica" charset="0"/>
                <a:cs typeface="Helvetica" charset="0"/>
              </a:rPr>
              <a:t>Use </a:t>
            </a:r>
            <a:r>
              <a:rPr lang="en-US" sz="2600" dirty="0" err="1" smtClean="0">
                <a:solidFill>
                  <a:schemeClr val="bg2">
                    <a:lumMod val="50000"/>
                  </a:schemeClr>
                </a:solidFill>
                <a:latin typeface="Helvetica" charset="0"/>
                <a:ea typeface="Helvetica" charset="0"/>
                <a:cs typeface="Helvetica" charset="0"/>
              </a:rPr>
              <a:t>colour</a:t>
            </a:r>
            <a:endParaRPr lang="en-US" sz="2200" dirty="0">
              <a:solidFill>
                <a:schemeClr val="bg2">
                  <a:lumMod val="50000"/>
                </a:schemeClr>
              </a:solidFill>
              <a:latin typeface="Helvetica" charset="0"/>
              <a:ea typeface="Helvetica" charset="0"/>
              <a:cs typeface="Helvetica" charset="0"/>
            </a:endParaRPr>
          </a:p>
          <a:p>
            <a:pPr eaLnBrk="1" hangingPunct="1"/>
            <a:endParaRPr lang="en-US" dirty="0">
              <a:solidFill>
                <a:schemeClr val="bg2">
                  <a:lumMod val="50000"/>
                </a:schemeClr>
              </a:solidFill>
              <a:latin typeface="Helvetica" charset="0"/>
              <a:ea typeface="Helvetica" charset="0"/>
              <a:cs typeface="Helvetica" charset="0"/>
            </a:endParaRPr>
          </a:p>
        </p:txBody>
      </p:sp>
      <p:pic>
        <p:nvPicPr>
          <p:cNvPr id="27652" name="Picture 7" descr="3-boys"/>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213601" y="1676401"/>
            <a:ext cx="44069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805148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Maximize </a:t>
            </a:r>
            <a:r>
              <a:rPr lang="en-US" b="1" dirty="0">
                <a:solidFill>
                  <a:schemeClr val="accent1">
                    <a:lumMod val="75000"/>
                  </a:schemeClr>
                </a:solidFill>
                <a:latin typeface="Helvetica" charset="0"/>
                <a:ea typeface="Helvetica" charset="0"/>
                <a:cs typeface="Helvetica" charset="0"/>
              </a:rPr>
              <a:t>Interest</a:t>
            </a:r>
          </a:p>
        </p:txBody>
      </p:sp>
      <p:sp>
        <p:nvSpPr>
          <p:cNvPr id="27651" name="Rectangle 3"/>
          <p:cNvSpPr>
            <a:spLocks noGrp="1" noChangeArrowheads="1"/>
          </p:cNvSpPr>
          <p:nvPr>
            <p:ph idx="1"/>
          </p:nvPr>
        </p:nvSpPr>
        <p:spPr/>
        <p:txBody>
          <a:bodyPr/>
          <a:lstStyle/>
          <a:p>
            <a:pPr eaLnBrk="1" hangingPunct="1">
              <a:buFont typeface="Arial"/>
              <a:buChar char="•"/>
            </a:pPr>
            <a:r>
              <a:rPr lang="en-US" sz="2800" dirty="0">
                <a:solidFill>
                  <a:schemeClr val="bg2">
                    <a:lumMod val="50000"/>
                  </a:schemeClr>
                </a:solidFill>
                <a:latin typeface="Helvetica" charset="0"/>
                <a:ea typeface="Helvetica" charset="0"/>
                <a:cs typeface="Helvetica" charset="0"/>
              </a:rPr>
              <a:t>Use pictures/videos</a:t>
            </a:r>
          </a:p>
          <a:p>
            <a:pPr lvl="1" eaLnBrk="1" hangingPunct="1">
              <a:buFont typeface="Arial"/>
              <a:buChar char="•"/>
            </a:pPr>
            <a:r>
              <a:rPr lang="en-US" sz="2400" dirty="0">
                <a:solidFill>
                  <a:schemeClr val="bg2">
                    <a:lumMod val="50000"/>
                  </a:schemeClr>
                </a:solidFill>
                <a:latin typeface="Helvetica" charset="0"/>
                <a:ea typeface="Helvetica" charset="0"/>
                <a:cs typeface="Helvetica" charset="0"/>
              </a:rPr>
              <a:t>But keep it </a:t>
            </a:r>
            <a:r>
              <a:rPr lang="en-US" sz="2400" dirty="0" smtClean="0">
                <a:solidFill>
                  <a:schemeClr val="bg2">
                    <a:lumMod val="50000"/>
                  </a:schemeClr>
                </a:solidFill>
                <a:latin typeface="Helvetica" charset="0"/>
                <a:ea typeface="Helvetica" charset="0"/>
                <a:cs typeface="Helvetica" charset="0"/>
              </a:rPr>
              <a:t>relevant</a:t>
            </a:r>
          </a:p>
          <a:p>
            <a:pPr>
              <a:buFont typeface="Arial"/>
              <a:buChar char="•"/>
            </a:pPr>
            <a:r>
              <a:rPr lang="en-US" sz="2600" dirty="0" smtClean="0">
                <a:solidFill>
                  <a:schemeClr val="bg2">
                    <a:lumMod val="50000"/>
                  </a:schemeClr>
                </a:solidFill>
                <a:latin typeface="Helvetica" charset="0"/>
                <a:ea typeface="Helvetica" charset="0"/>
                <a:cs typeface="Helvetica" charset="0"/>
              </a:rPr>
              <a:t>Use </a:t>
            </a:r>
            <a:r>
              <a:rPr lang="en-US" sz="2600" dirty="0" err="1" smtClean="0">
                <a:solidFill>
                  <a:schemeClr val="bg2">
                    <a:lumMod val="50000"/>
                  </a:schemeClr>
                </a:solidFill>
                <a:latin typeface="Helvetica" charset="0"/>
                <a:ea typeface="Helvetica" charset="0"/>
                <a:cs typeface="Helvetica" charset="0"/>
              </a:rPr>
              <a:t>colour</a:t>
            </a:r>
            <a:endParaRPr lang="en-US" sz="2200" dirty="0">
              <a:solidFill>
                <a:schemeClr val="bg2">
                  <a:lumMod val="50000"/>
                </a:schemeClr>
              </a:solidFill>
              <a:latin typeface="Helvetica" charset="0"/>
              <a:ea typeface="Helvetica" charset="0"/>
              <a:cs typeface="Helvetica" charset="0"/>
            </a:endParaRPr>
          </a:p>
          <a:p>
            <a:pPr lvl="1"/>
            <a:endParaRPr lang="en-US" dirty="0">
              <a:solidFill>
                <a:schemeClr val="bg2">
                  <a:lumMod val="50000"/>
                </a:schemeClr>
              </a:solidFill>
              <a:latin typeface="Helvetica" charset="0"/>
              <a:ea typeface="Helvetica" charset="0"/>
              <a:cs typeface="Helvetica" charset="0"/>
            </a:endParaRPr>
          </a:p>
        </p:txBody>
      </p:sp>
      <p:pic>
        <p:nvPicPr>
          <p:cNvPr id="27652" name="Picture 7" descr="3-boys"/>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213601" y="1676401"/>
            <a:ext cx="44069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8775463"/>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Maximize </a:t>
            </a:r>
            <a:r>
              <a:rPr lang="en-US" b="1" dirty="0">
                <a:solidFill>
                  <a:schemeClr val="accent1">
                    <a:lumMod val="75000"/>
                  </a:schemeClr>
                </a:solidFill>
                <a:latin typeface="Helvetica" charset="0"/>
                <a:ea typeface="Helvetica" charset="0"/>
                <a:cs typeface="Helvetica" charset="0"/>
              </a:rPr>
              <a:t>Interest</a:t>
            </a:r>
          </a:p>
        </p:txBody>
      </p:sp>
      <p:sp>
        <p:nvSpPr>
          <p:cNvPr id="27651" name="Rectangle 3"/>
          <p:cNvSpPr>
            <a:spLocks noGrp="1" noChangeArrowheads="1"/>
          </p:cNvSpPr>
          <p:nvPr>
            <p:ph idx="1"/>
          </p:nvPr>
        </p:nvSpPr>
        <p:spPr/>
        <p:txBody>
          <a:bodyPr/>
          <a:lstStyle/>
          <a:p>
            <a:pPr eaLnBrk="1" hangingPunct="1">
              <a:buFont typeface="Arial"/>
              <a:buChar char="•"/>
            </a:pPr>
            <a:r>
              <a:rPr lang="en-US" sz="2800" dirty="0">
                <a:solidFill>
                  <a:schemeClr val="bg2">
                    <a:lumMod val="50000"/>
                  </a:schemeClr>
                </a:solidFill>
                <a:latin typeface="Helvetica" charset="0"/>
                <a:ea typeface="Helvetica" charset="0"/>
                <a:cs typeface="Helvetica" charset="0"/>
              </a:rPr>
              <a:t>Use pictures/videos</a:t>
            </a:r>
          </a:p>
          <a:p>
            <a:pPr lvl="1" eaLnBrk="1" hangingPunct="1">
              <a:buFont typeface="Arial"/>
              <a:buChar char="•"/>
            </a:pPr>
            <a:r>
              <a:rPr lang="en-US" sz="2400" dirty="0">
                <a:solidFill>
                  <a:schemeClr val="bg2">
                    <a:lumMod val="50000"/>
                  </a:schemeClr>
                </a:solidFill>
                <a:latin typeface="Helvetica" charset="0"/>
                <a:ea typeface="Helvetica" charset="0"/>
                <a:cs typeface="Helvetica" charset="0"/>
              </a:rPr>
              <a:t>But keep it </a:t>
            </a:r>
            <a:r>
              <a:rPr lang="en-US" sz="2400" dirty="0" smtClean="0">
                <a:solidFill>
                  <a:schemeClr val="bg2">
                    <a:lumMod val="50000"/>
                  </a:schemeClr>
                </a:solidFill>
                <a:latin typeface="Helvetica" charset="0"/>
                <a:ea typeface="Helvetica" charset="0"/>
                <a:cs typeface="Helvetica" charset="0"/>
              </a:rPr>
              <a:t>relevant</a:t>
            </a:r>
          </a:p>
          <a:p>
            <a:pPr>
              <a:buFont typeface="Arial"/>
              <a:buChar char="•"/>
            </a:pPr>
            <a:r>
              <a:rPr lang="en-US" sz="2600" dirty="0" smtClean="0">
                <a:solidFill>
                  <a:schemeClr val="bg2">
                    <a:lumMod val="50000"/>
                  </a:schemeClr>
                </a:solidFill>
                <a:latin typeface="Helvetica" charset="0"/>
                <a:ea typeface="Helvetica" charset="0"/>
                <a:cs typeface="Helvetica" charset="0"/>
              </a:rPr>
              <a:t>Use </a:t>
            </a:r>
            <a:r>
              <a:rPr lang="en-US" sz="2600" dirty="0" err="1" smtClean="0">
                <a:solidFill>
                  <a:schemeClr val="bg2">
                    <a:lumMod val="50000"/>
                  </a:schemeClr>
                </a:solidFill>
                <a:latin typeface="Helvetica" charset="0"/>
                <a:ea typeface="Helvetica" charset="0"/>
                <a:cs typeface="Helvetica" charset="0"/>
              </a:rPr>
              <a:t>colour</a:t>
            </a:r>
            <a:endParaRPr lang="en-US" sz="2600" dirty="0" smtClean="0">
              <a:solidFill>
                <a:schemeClr val="bg2">
                  <a:lumMod val="50000"/>
                </a:schemeClr>
              </a:solidFill>
              <a:latin typeface="Helvetica" charset="0"/>
              <a:ea typeface="Helvetica" charset="0"/>
              <a:cs typeface="Helvetica" charset="0"/>
            </a:endParaRPr>
          </a:p>
          <a:p>
            <a:pPr lvl="1">
              <a:buFont typeface="Arial"/>
              <a:buChar char="•"/>
            </a:pPr>
            <a:r>
              <a:rPr lang="en-US" sz="2400" dirty="0" smtClean="0">
                <a:solidFill>
                  <a:schemeClr val="bg2">
                    <a:lumMod val="50000"/>
                  </a:schemeClr>
                </a:solidFill>
                <a:latin typeface="Helvetica" charset="0"/>
                <a:ea typeface="Helvetica" charset="0"/>
                <a:cs typeface="Helvetica" charset="0"/>
              </a:rPr>
              <a:t>But keep it legible</a:t>
            </a:r>
          </a:p>
          <a:p>
            <a:pPr>
              <a:buFont typeface="Arial"/>
              <a:buChar char="•"/>
            </a:pPr>
            <a:r>
              <a:rPr lang="en-US" sz="2600" dirty="0" smtClean="0">
                <a:solidFill>
                  <a:schemeClr val="bg2">
                    <a:lumMod val="50000"/>
                  </a:schemeClr>
                </a:solidFill>
                <a:latin typeface="Helvetica" charset="0"/>
                <a:ea typeface="Helvetica" charset="0"/>
                <a:cs typeface="Helvetica" charset="0"/>
              </a:rPr>
              <a:t>Use </a:t>
            </a:r>
            <a:r>
              <a:rPr lang="en-US" sz="2600" dirty="0" err="1" smtClean="0">
                <a:solidFill>
                  <a:schemeClr val="bg2">
                    <a:lumMod val="50000"/>
                  </a:schemeClr>
                </a:solidFill>
                <a:latin typeface="Helvetica" charset="0"/>
                <a:ea typeface="Helvetica" charset="0"/>
                <a:cs typeface="Helvetica" charset="0"/>
              </a:rPr>
              <a:t>humour</a:t>
            </a:r>
            <a:r>
              <a:rPr lang="en-US" sz="2600" dirty="0" smtClean="0">
                <a:solidFill>
                  <a:schemeClr val="bg2">
                    <a:lumMod val="50000"/>
                  </a:schemeClr>
                </a:solidFill>
                <a:latin typeface="Helvetica" charset="0"/>
                <a:ea typeface="Helvetica" charset="0"/>
                <a:cs typeface="Helvetica" charset="0"/>
              </a:rPr>
              <a:t> (or not!!)</a:t>
            </a:r>
          </a:p>
          <a:p>
            <a:pPr lvl="1">
              <a:buFont typeface="Arial"/>
              <a:buChar char="•"/>
            </a:pPr>
            <a:r>
              <a:rPr lang="en-US" sz="2400" dirty="0" smtClean="0">
                <a:solidFill>
                  <a:schemeClr val="bg2">
                    <a:lumMod val="50000"/>
                  </a:schemeClr>
                </a:solidFill>
                <a:latin typeface="Helvetica" charset="0"/>
                <a:ea typeface="Helvetica" charset="0"/>
                <a:cs typeface="Helvetica" charset="0"/>
              </a:rPr>
              <a:t>And be yourself!</a:t>
            </a:r>
          </a:p>
          <a:p>
            <a:pPr lvl="1">
              <a:buFont typeface="Arial"/>
              <a:buChar char="•"/>
            </a:pPr>
            <a:r>
              <a:rPr lang="en-US" sz="2400" b="1" dirty="0" smtClean="0">
                <a:solidFill>
                  <a:schemeClr val="bg2">
                    <a:lumMod val="50000"/>
                  </a:schemeClr>
                </a:solidFill>
                <a:latin typeface="Helvetica" charset="0"/>
                <a:ea typeface="Helvetica" charset="0"/>
                <a:cs typeface="Helvetica" charset="0"/>
              </a:rPr>
              <a:t>People will go in believing you can do research</a:t>
            </a:r>
            <a:endParaRPr lang="en-US" sz="2400" b="1" dirty="0">
              <a:solidFill>
                <a:schemeClr val="bg2">
                  <a:lumMod val="50000"/>
                </a:schemeClr>
              </a:solidFill>
              <a:latin typeface="Helvetica" charset="0"/>
              <a:ea typeface="Helvetica" charset="0"/>
              <a:cs typeface="Helvetica" charset="0"/>
            </a:endParaRPr>
          </a:p>
        </p:txBody>
      </p:sp>
      <p:pic>
        <p:nvPicPr>
          <p:cNvPr id="27652" name="Picture 7" descr="3-boys"/>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213601" y="1676401"/>
            <a:ext cx="440690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070198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Maximize </a:t>
            </a:r>
            <a:r>
              <a:rPr lang="en-US" b="1" dirty="0" smtClean="0">
                <a:solidFill>
                  <a:schemeClr val="accent1">
                    <a:lumMod val="75000"/>
                  </a:schemeClr>
                </a:solidFill>
                <a:latin typeface="Helvetica" charset="0"/>
                <a:ea typeface="Helvetica" charset="0"/>
                <a:cs typeface="Helvetica" charset="0"/>
              </a:rPr>
              <a:t>Understanding</a:t>
            </a:r>
            <a:endParaRPr lang="en-US" b="1" dirty="0">
              <a:solidFill>
                <a:schemeClr val="accent1">
                  <a:lumMod val="75000"/>
                </a:schemeClr>
              </a:solidFill>
              <a:latin typeface="Helvetica" charset="0"/>
              <a:ea typeface="Helvetica" charset="0"/>
              <a:cs typeface="Helvetica" charset="0"/>
            </a:endParaRPr>
          </a:p>
        </p:txBody>
      </p:sp>
      <p:sp>
        <p:nvSpPr>
          <p:cNvPr id="27651" name="Rectangle 3"/>
          <p:cNvSpPr>
            <a:spLocks noGrp="1" noChangeArrowheads="1"/>
          </p:cNvSpPr>
          <p:nvPr>
            <p:ph idx="1"/>
          </p:nvPr>
        </p:nvSpPr>
        <p:spPr/>
        <p:txBody>
          <a:bodyPr/>
          <a:lstStyle/>
          <a:p>
            <a:pPr eaLnBrk="1" hangingPunct="1">
              <a:buFont typeface="Arial"/>
              <a:buChar char="•"/>
            </a:pPr>
            <a:r>
              <a:rPr lang="en-US" sz="2800" dirty="0" smtClean="0">
                <a:solidFill>
                  <a:schemeClr val="bg2">
                    <a:lumMod val="50000"/>
                  </a:schemeClr>
                </a:solidFill>
                <a:latin typeface="Helvetica" charset="0"/>
                <a:ea typeface="Helvetica" charset="0"/>
                <a:cs typeface="Helvetica" charset="0"/>
              </a:rPr>
              <a:t>Remember your audience </a:t>
            </a:r>
          </a:p>
          <a:p>
            <a:pPr>
              <a:buFont typeface="Arial"/>
              <a:buChar char="•"/>
            </a:pPr>
            <a:r>
              <a:rPr lang="en-US" sz="2600" dirty="0" smtClean="0">
                <a:solidFill>
                  <a:schemeClr val="bg2">
                    <a:lumMod val="50000"/>
                  </a:schemeClr>
                </a:solidFill>
                <a:latin typeface="Helvetica" charset="0"/>
                <a:ea typeface="Helvetica" charset="0"/>
                <a:cs typeface="Helvetica" charset="0"/>
              </a:rPr>
              <a:t>Use examples</a:t>
            </a:r>
          </a:p>
          <a:p>
            <a:pPr lvl="1">
              <a:buFont typeface="Arial"/>
              <a:buChar char="•"/>
            </a:pPr>
            <a:r>
              <a:rPr lang="en-US" sz="2400" dirty="0" smtClean="0">
                <a:solidFill>
                  <a:schemeClr val="bg2">
                    <a:lumMod val="50000"/>
                  </a:schemeClr>
                </a:solidFill>
                <a:latin typeface="Helvetica" charset="0"/>
                <a:ea typeface="Helvetica" charset="0"/>
                <a:cs typeface="Helvetica" charset="0"/>
              </a:rPr>
              <a:t>Analogies</a:t>
            </a:r>
          </a:p>
          <a:p>
            <a:pPr lvl="1">
              <a:buFont typeface="Arial"/>
              <a:buChar char="•"/>
            </a:pPr>
            <a:r>
              <a:rPr lang="en-US" sz="2400" dirty="0" smtClean="0">
                <a:solidFill>
                  <a:schemeClr val="bg2">
                    <a:lumMod val="50000"/>
                  </a:schemeClr>
                </a:solidFill>
                <a:latin typeface="Helvetica" charset="0"/>
                <a:ea typeface="Helvetica" charset="0"/>
                <a:cs typeface="Helvetica" charset="0"/>
              </a:rPr>
              <a:t>Pop culture references!</a:t>
            </a:r>
            <a:endParaRPr lang="en-US" sz="2400" dirty="0">
              <a:solidFill>
                <a:schemeClr val="bg2">
                  <a:lumMod val="50000"/>
                </a:schemeClr>
              </a:solidFill>
              <a:latin typeface="Helvetica" charset="0"/>
              <a:ea typeface="Helvetica" charset="0"/>
              <a:cs typeface="Helvetica" charset="0"/>
            </a:endParaRPr>
          </a:p>
        </p:txBody>
      </p:sp>
      <p:pic>
        <p:nvPicPr>
          <p:cNvPr id="5" name="Picture 10" descr="Professors_Graduation_0607brighten"/>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209126" y="2017308"/>
            <a:ext cx="19812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descr="ke"/>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009130" y="2017308"/>
            <a:ext cx="149383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5"/>
          <a:stretch>
            <a:fillRect/>
          </a:stretch>
        </p:blipFill>
        <p:spPr>
          <a:xfrm>
            <a:off x="4761327" y="3503208"/>
            <a:ext cx="2162610" cy="2883480"/>
          </a:xfrm>
          <a:prstGeom prst="rect">
            <a:avLst/>
          </a:prstGeom>
        </p:spPr>
      </p:pic>
    </p:spTree>
    <p:extLst>
      <p:ext uri="{BB962C8B-B14F-4D97-AF65-F5344CB8AC3E}">
        <p14:creationId xmlns:p14="http://schemas.microsoft.com/office/powerpoint/2010/main" val="131802234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b="1" dirty="0" smtClean="0">
                <a:solidFill>
                  <a:schemeClr val="bg2">
                    <a:lumMod val="50000"/>
                  </a:schemeClr>
                </a:solidFill>
                <a:latin typeface="Helvetica" charset="0"/>
                <a:ea typeface="Helvetica" charset="0"/>
                <a:cs typeface="Helvetica" charset="0"/>
              </a:rPr>
              <a:t>Introduction</a:t>
            </a:r>
            <a:endParaRPr lang="en-US" b="1" dirty="0">
              <a:solidFill>
                <a:schemeClr val="bg2">
                  <a:lumMod val="50000"/>
                </a:schemeClr>
              </a:solidFill>
              <a:latin typeface="Helvetica" charset="0"/>
              <a:ea typeface="Helvetica" charset="0"/>
              <a:cs typeface="Helvetica" charset="0"/>
            </a:endParaRPr>
          </a:p>
        </p:txBody>
      </p:sp>
      <p:sp>
        <p:nvSpPr>
          <p:cNvPr id="27651" name="Rectangle 3"/>
          <p:cNvSpPr>
            <a:spLocks noGrp="1" noChangeArrowheads="1"/>
          </p:cNvSpPr>
          <p:nvPr>
            <p:ph idx="1"/>
          </p:nvPr>
        </p:nvSpPr>
        <p:spPr/>
        <p:txBody>
          <a:bodyPr/>
          <a:lstStyle/>
          <a:p>
            <a:pPr eaLnBrk="1" hangingPunct="1">
              <a:buFont typeface="Arial"/>
              <a:buChar char="•"/>
            </a:pPr>
            <a:r>
              <a:rPr lang="en-US" sz="2800" dirty="0" smtClean="0">
                <a:solidFill>
                  <a:schemeClr val="bg2">
                    <a:lumMod val="50000"/>
                  </a:schemeClr>
                </a:solidFill>
                <a:latin typeface="Helvetica" charset="0"/>
                <a:ea typeface="Helvetica" charset="0"/>
                <a:cs typeface="Helvetica" charset="0"/>
              </a:rPr>
              <a:t>Time (and attention) limited!</a:t>
            </a:r>
          </a:p>
          <a:p>
            <a:pPr eaLnBrk="1" hangingPunct="1">
              <a:buFont typeface="Arial"/>
              <a:buChar char="•"/>
            </a:pPr>
            <a:r>
              <a:rPr lang="en-US" sz="2800" dirty="0" smtClean="0">
                <a:solidFill>
                  <a:schemeClr val="bg2">
                    <a:lumMod val="50000"/>
                  </a:schemeClr>
                </a:solidFill>
                <a:latin typeface="Helvetica" charset="0"/>
                <a:ea typeface="Helvetica" charset="0"/>
                <a:cs typeface="Helvetica" charset="0"/>
              </a:rPr>
              <a:t>Simplify your scope</a:t>
            </a:r>
          </a:p>
          <a:p>
            <a:pPr lvl="1">
              <a:buFont typeface="Arial"/>
              <a:buChar char="•"/>
            </a:pPr>
            <a:r>
              <a:rPr lang="en-US" sz="2400" dirty="0" smtClean="0">
                <a:solidFill>
                  <a:schemeClr val="bg2">
                    <a:lumMod val="50000"/>
                  </a:schemeClr>
                </a:solidFill>
                <a:latin typeface="Helvetica" charset="0"/>
                <a:ea typeface="Helvetica" charset="0"/>
                <a:cs typeface="Helvetica" charset="0"/>
              </a:rPr>
              <a:t>What is essential?</a:t>
            </a:r>
          </a:p>
          <a:p>
            <a:pPr>
              <a:buFont typeface="Arial"/>
              <a:buChar char="•"/>
            </a:pPr>
            <a:r>
              <a:rPr lang="en-US" sz="2600" dirty="0" smtClean="0">
                <a:solidFill>
                  <a:schemeClr val="bg2">
                    <a:lumMod val="50000"/>
                  </a:schemeClr>
                </a:solidFill>
                <a:latin typeface="Helvetica" charset="0"/>
                <a:ea typeface="Helvetica" charset="0"/>
                <a:cs typeface="Helvetica" charset="0"/>
              </a:rPr>
              <a:t>Tell one story, clearly</a:t>
            </a:r>
          </a:p>
          <a:p>
            <a:pPr>
              <a:buFont typeface="Arial"/>
              <a:buChar char="•"/>
            </a:pPr>
            <a:r>
              <a:rPr lang="en-US" sz="2600" dirty="0" smtClean="0">
                <a:solidFill>
                  <a:schemeClr val="bg2">
                    <a:lumMod val="50000"/>
                  </a:schemeClr>
                </a:solidFill>
                <a:latin typeface="Helvetica" charset="0"/>
                <a:ea typeface="Helvetica" charset="0"/>
                <a:cs typeface="Helvetica" charset="0"/>
              </a:rPr>
              <a:t>Back up your main points with references</a:t>
            </a:r>
            <a:r>
              <a:rPr lang="en-US" sz="1600" dirty="0" smtClean="0">
                <a:solidFill>
                  <a:schemeClr val="bg2">
                    <a:lumMod val="50000"/>
                  </a:schemeClr>
                </a:solidFill>
                <a:latin typeface="Helvetica" charset="0"/>
                <a:ea typeface="Helvetica" charset="0"/>
                <a:cs typeface="Helvetica" charset="0"/>
              </a:rPr>
              <a:t> (Ewing, 2014)</a:t>
            </a:r>
          </a:p>
        </p:txBody>
      </p:sp>
    </p:spTree>
    <p:extLst>
      <p:ext uri="{BB962C8B-B14F-4D97-AF65-F5344CB8AC3E}">
        <p14:creationId xmlns:p14="http://schemas.microsoft.com/office/powerpoint/2010/main" val="2928897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Method</a:t>
            </a:r>
          </a:p>
        </p:txBody>
      </p:sp>
      <p:sp>
        <p:nvSpPr>
          <p:cNvPr id="9219" name="Rectangle 3"/>
          <p:cNvSpPr>
            <a:spLocks noGrp="1" noChangeArrowheads="1"/>
          </p:cNvSpPr>
          <p:nvPr>
            <p:ph idx="1"/>
          </p:nvPr>
        </p:nvSpPr>
        <p:spPr/>
        <p:txBody>
          <a:bodyPr/>
          <a:lstStyle/>
          <a:p>
            <a:pPr eaLnBrk="1" hangingPunct="1">
              <a:lnSpc>
                <a:spcPct val="90000"/>
              </a:lnSpc>
              <a:buFont typeface="Arial"/>
              <a:buChar char="•"/>
            </a:pPr>
            <a:r>
              <a:rPr lang="en-US" sz="2800" dirty="0">
                <a:solidFill>
                  <a:schemeClr val="bg2">
                    <a:lumMod val="50000"/>
                  </a:schemeClr>
                </a:solidFill>
                <a:latin typeface="Helvetica" charset="0"/>
                <a:ea typeface="Helvetica" charset="0"/>
                <a:cs typeface="Helvetica" charset="0"/>
              </a:rPr>
              <a:t>Pictures Pictures Pictures</a:t>
            </a:r>
            <a:br>
              <a:rPr lang="en-US" sz="2800" dirty="0">
                <a:solidFill>
                  <a:schemeClr val="bg2">
                    <a:lumMod val="50000"/>
                  </a:schemeClr>
                </a:solidFill>
                <a:latin typeface="Helvetica" charset="0"/>
                <a:ea typeface="Helvetica" charset="0"/>
                <a:cs typeface="Helvetica" charset="0"/>
              </a:rPr>
            </a:br>
            <a:endParaRPr lang="en-US" sz="2800" dirty="0">
              <a:solidFill>
                <a:schemeClr val="bg2">
                  <a:lumMod val="50000"/>
                </a:schemeClr>
              </a:solidFill>
              <a:latin typeface="Helvetica" charset="0"/>
              <a:ea typeface="Helvetica" charset="0"/>
              <a:cs typeface="Helvetica" charset="0"/>
            </a:endParaRPr>
          </a:p>
          <a:p>
            <a:pPr eaLnBrk="1" hangingPunct="1">
              <a:lnSpc>
                <a:spcPct val="90000"/>
              </a:lnSpc>
              <a:buFont typeface="Arial"/>
              <a:buChar char="•"/>
            </a:pPr>
            <a:r>
              <a:rPr lang="en-US" sz="2800" dirty="0">
                <a:solidFill>
                  <a:schemeClr val="bg2">
                    <a:lumMod val="50000"/>
                  </a:schemeClr>
                </a:solidFill>
                <a:latin typeface="Helvetica" charset="0"/>
                <a:ea typeface="Helvetica" charset="0"/>
                <a:cs typeface="Helvetica" charset="0"/>
              </a:rPr>
              <a:t>Run a demo</a:t>
            </a:r>
            <a:br>
              <a:rPr lang="en-US" sz="2800" dirty="0">
                <a:solidFill>
                  <a:schemeClr val="bg2">
                    <a:lumMod val="50000"/>
                  </a:schemeClr>
                </a:solidFill>
                <a:latin typeface="Helvetica" charset="0"/>
                <a:ea typeface="Helvetica" charset="0"/>
                <a:cs typeface="Helvetica" charset="0"/>
              </a:rPr>
            </a:br>
            <a:endParaRPr lang="en-US" sz="2800" dirty="0">
              <a:solidFill>
                <a:schemeClr val="bg2">
                  <a:lumMod val="50000"/>
                </a:schemeClr>
              </a:solidFill>
              <a:latin typeface="Helvetica" charset="0"/>
              <a:ea typeface="Helvetica" charset="0"/>
              <a:cs typeface="Helvetica" charset="0"/>
            </a:endParaRPr>
          </a:p>
          <a:p>
            <a:pPr eaLnBrk="1" hangingPunct="1">
              <a:lnSpc>
                <a:spcPct val="90000"/>
              </a:lnSpc>
              <a:buFont typeface="Arial"/>
              <a:buChar char="•"/>
            </a:pPr>
            <a:r>
              <a:rPr lang="en-US" sz="2800" dirty="0">
                <a:solidFill>
                  <a:schemeClr val="bg2">
                    <a:lumMod val="50000"/>
                  </a:schemeClr>
                </a:solidFill>
                <a:latin typeface="Helvetica" charset="0"/>
                <a:ea typeface="Helvetica" charset="0"/>
                <a:cs typeface="Helvetica" charset="0"/>
              </a:rPr>
              <a:t>Only mention the </a:t>
            </a:r>
            <a:r>
              <a:rPr lang="en-US" altLang="ja-JP" sz="2800" dirty="0">
                <a:solidFill>
                  <a:schemeClr val="bg2">
                    <a:lumMod val="50000"/>
                  </a:schemeClr>
                </a:solidFill>
                <a:latin typeface="Helvetica" charset="0"/>
                <a:ea typeface="Helvetica" charset="0"/>
                <a:cs typeface="Helvetica" charset="0"/>
              </a:rPr>
              <a:t>essentials</a:t>
            </a:r>
          </a:p>
          <a:p>
            <a:pPr lvl="1" eaLnBrk="1" hangingPunct="1">
              <a:lnSpc>
                <a:spcPct val="90000"/>
              </a:lnSpc>
              <a:buFont typeface="Arial"/>
              <a:buChar char="•"/>
            </a:pPr>
            <a:r>
              <a:rPr lang="en-US" sz="2400" dirty="0">
                <a:solidFill>
                  <a:schemeClr val="bg2">
                    <a:lumMod val="50000"/>
                  </a:schemeClr>
                </a:solidFill>
                <a:latin typeface="Helvetica" charset="0"/>
                <a:ea typeface="Helvetica" charset="0"/>
                <a:cs typeface="Helvetica" charset="0"/>
              </a:rPr>
              <a:t>Age, gender, ethnicity…?</a:t>
            </a:r>
          </a:p>
          <a:p>
            <a:pPr lvl="1" eaLnBrk="1" hangingPunct="1">
              <a:lnSpc>
                <a:spcPct val="90000"/>
              </a:lnSpc>
              <a:buFont typeface="Arial"/>
              <a:buChar char="•"/>
            </a:pPr>
            <a:r>
              <a:rPr lang="en-US" sz="2400" dirty="0">
                <a:solidFill>
                  <a:schemeClr val="bg2">
                    <a:lumMod val="50000"/>
                  </a:schemeClr>
                </a:solidFill>
                <a:latin typeface="Helvetica" charset="0"/>
                <a:ea typeface="Helvetica" charset="0"/>
                <a:cs typeface="Helvetica" charset="0"/>
              </a:rPr>
              <a:t>Inter-stimulus intervals, task order…?</a:t>
            </a:r>
          </a:p>
        </p:txBody>
      </p:sp>
      <p:pic>
        <p:nvPicPr>
          <p:cNvPr id="9220" name="Picture 4" descr="Picture 8"/>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28000" y="228600"/>
            <a:ext cx="3725333"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Figure 3.tif"/>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727952" y="2807395"/>
            <a:ext cx="4347633"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194876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Results</a:t>
            </a:r>
          </a:p>
        </p:txBody>
      </p:sp>
      <p:sp>
        <p:nvSpPr>
          <p:cNvPr id="10243" name="Rectangle 3"/>
          <p:cNvSpPr>
            <a:spLocks noGrp="1" noChangeArrowheads="1"/>
          </p:cNvSpPr>
          <p:nvPr>
            <p:ph idx="1"/>
          </p:nvPr>
        </p:nvSpPr>
        <p:spPr/>
        <p:txBody>
          <a:bodyPr/>
          <a:lstStyle/>
          <a:p>
            <a:pPr eaLnBrk="1" hangingPunct="1">
              <a:buFont typeface="Arial"/>
              <a:buChar char="•"/>
              <a:defRPr/>
            </a:pPr>
            <a:r>
              <a:rPr lang="en-US" sz="2800" dirty="0">
                <a:solidFill>
                  <a:schemeClr val="bg2">
                    <a:lumMod val="50000"/>
                  </a:schemeClr>
                </a:solidFill>
                <a:latin typeface="Arial" charset="0"/>
                <a:ea typeface="ＭＳ Ｐゴシック" charset="0"/>
                <a:cs typeface="ＭＳ Ｐゴシック" charset="0"/>
              </a:rPr>
              <a:t>Don</a:t>
            </a:r>
            <a:r>
              <a:rPr lang="en-AU" sz="2800" dirty="0">
                <a:solidFill>
                  <a:schemeClr val="bg2">
                    <a:lumMod val="50000"/>
                  </a:schemeClr>
                </a:solidFill>
                <a:latin typeface="Arial" charset="0"/>
                <a:ea typeface="ＭＳ Ｐゴシック" charset="0"/>
                <a:cs typeface="ＭＳ Ｐゴシック" charset="0"/>
              </a:rPr>
              <a:t>’</a:t>
            </a:r>
            <a:r>
              <a:rPr lang="en-US" altLang="ja-JP" sz="2800" dirty="0">
                <a:solidFill>
                  <a:schemeClr val="bg2">
                    <a:lumMod val="50000"/>
                  </a:schemeClr>
                </a:solidFill>
                <a:latin typeface="Arial" charset="0"/>
                <a:ea typeface="ＭＳ Ｐゴシック" charset="0"/>
                <a:cs typeface="ＭＳ Ｐゴシック" charset="0"/>
              </a:rPr>
              <a:t>t try and fake it</a:t>
            </a:r>
            <a:br>
              <a:rPr lang="en-US" altLang="ja-JP" sz="2800" dirty="0">
                <a:solidFill>
                  <a:schemeClr val="bg2">
                    <a:lumMod val="50000"/>
                  </a:schemeClr>
                </a:solidFill>
                <a:latin typeface="Arial" charset="0"/>
                <a:ea typeface="ＭＳ Ｐゴシック" charset="0"/>
                <a:cs typeface="ＭＳ Ｐゴシック" charset="0"/>
              </a:rPr>
            </a:br>
            <a:endParaRPr lang="en-US" altLang="ja-JP" sz="2800" dirty="0">
              <a:solidFill>
                <a:schemeClr val="bg2">
                  <a:lumMod val="50000"/>
                </a:schemeClr>
              </a:solidFill>
              <a:latin typeface="Arial" charset="0"/>
              <a:ea typeface="ＭＳ Ｐゴシック" charset="0"/>
              <a:cs typeface="ＭＳ Ｐゴシック" charset="0"/>
            </a:endParaRPr>
          </a:p>
          <a:p>
            <a:pPr eaLnBrk="1" hangingPunct="1">
              <a:buFont typeface="Arial"/>
              <a:buChar char="•"/>
              <a:defRPr/>
            </a:pPr>
            <a:r>
              <a:rPr lang="en-US" sz="2800" dirty="0">
                <a:solidFill>
                  <a:schemeClr val="bg2">
                    <a:lumMod val="50000"/>
                  </a:schemeClr>
                </a:solidFill>
                <a:latin typeface="Arial" charset="0"/>
                <a:ea typeface="ＭＳ Ｐゴシック" charset="0"/>
                <a:cs typeface="ＭＳ Ｐゴシック" charset="0"/>
              </a:rPr>
              <a:t>Make the results part of your story</a:t>
            </a:r>
          </a:p>
          <a:p>
            <a:pPr lvl="1" eaLnBrk="1" hangingPunct="1">
              <a:buFont typeface="Arial"/>
              <a:buChar char="•"/>
              <a:defRPr/>
            </a:pPr>
            <a:r>
              <a:rPr lang="en-US" sz="2400" dirty="0">
                <a:solidFill>
                  <a:schemeClr val="bg2">
                    <a:lumMod val="50000"/>
                  </a:schemeClr>
                </a:solidFill>
                <a:latin typeface="Arial" charset="0"/>
                <a:ea typeface="ＭＳ Ｐゴシック" charset="0"/>
              </a:rPr>
              <a:t>Remind people what you were expecting</a:t>
            </a:r>
          </a:p>
          <a:p>
            <a:pPr marL="742950" lvl="1" indent="-285750" eaLnBrk="1" hangingPunct="1">
              <a:buFont typeface="Arial"/>
              <a:buChar char="•"/>
              <a:defRPr/>
            </a:pPr>
            <a:endParaRPr lang="en-US" b="1" dirty="0">
              <a:solidFill>
                <a:schemeClr val="bg2">
                  <a:lumMod val="50000"/>
                </a:schemeClr>
              </a:solidFill>
              <a:latin typeface="Arial" charset="0"/>
              <a:ea typeface="ＭＳ Ｐゴシック" charset="0"/>
              <a:cs typeface="ＭＳ Ｐゴシック" charset="0"/>
            </a:endParaRPr>
          </a:p>
          <a:p>
            <a:pPr eaLnBrk="1" hangingPunct="1">
              <a:buFont typeface="Arial"/>
              <a:buChar char="•"/>
              <a:defRPr/>
            </a:pPr>
            <a:r>
              <a:rPr lang="en-US" sz="2800" dirty="0" smtClean="0">
                <a:solidFill>
                  <a:schemeClr val="bg2">
                    <a:lumMod val="50000"/>
                  </a:schemeClr>
                </a:solidFill>
                <a:latin typeface="Arial" charset="0"/>
                <a:ea typeface="ＭＳ Ｐゴシック" charset="0"/>
                <a:cs typeface="ＭＳ Ｐゴシック" charset="0"/>
              </a:rPr>
              <a:t>Show statistics sparingly</a:t>
            </a:r>
            <a:endParaRPr lang="en-US" sz="2400" dirty="0">
              <a:solidFill>
                <a:schemeClr val="bg2">
                  <a:lumMod val="50000"/>
                </a:schemeClr>
              </a:solidFill>
              <a:latin typeface="Arial" charset="0"/>
              <a:ea typeface="ＭＳ Ｐゴシック" charset="0"/>
              <a:cs typeface="ＭＳ Ｐゴシック" charset="0"/>
            </a:endParaRPr>
          </a:p>
          <a:p>
            <a:pPr lvl="1" eaLnBrk="1" hangingPunct="1">
              <a:buFont typeface="Arial"/>
              <a:buChar char="•"/>
              <a:defRPr/>
            </a:pPr>
            <a:r>
              <a:rPr lang="en-US" sz="2400" dirty="0" smtClean="0">
                <a:solidFill>
                  <a:schemeClr val="bg2">
                    <a:lumMod val="50000"/>
                  </a:schemeClr>
                </a:solidFill>
                <a:latin typeface="Arial" charset="0"/>
                <a:ea typeface="ＭＳ Ｐゴシック" charset="0"/>
              </a:rPr>
              <a:t>Emphasize </a:t>
            </a:r>
            <a:r>
              <a:rPr lang="en-US" sz="2400" b="1" dirty="0" smtClean="0">
                <a:solidFill>
                  <a:schemeClr val="bg2">
                    <a:lumMod val="50000"/>
                  </a:schemeClr>
                </a:solidFill>
                <a:latin typeface="Arial" charset="0"/>
                <a:ea typeface="ＭＳ Ｐゴシック" charset="0"/>
              </a:rPr>
              <a:t>meaning</a:t>
            </a:r>
          </a:p>
        </p:txBody>
      </p:sp>
    </p:spTree>
    <p:extLst>
      <p:ext uri="{BB962C8B-B14F-4D97-AF65-F5344CB8AC3E}">
        <p14:creationId xmlns:p14="http://schemas.microsoft.com/office/powerpoint/2010/main" val="370266757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lstStyle/>
          <a:p>
            <a:pPr eaLnBrk="1" hangingPunct="1"/>
            <a:r>
              <a:rPr lang="en-US" b="1" dirty="0">
                <a:solidFill>
                  <a:schemeClr val="bg2">
                    <a:lumMod val="50000"/>
                  </a:schemeClr>
                </a:solidFill>
                <a:latin typeface="Helvetica" charset="0"/>
                <a:ea typeface="Helvetica" charset="0"/>
                <a:cs typeface="Helvetica" charset="0"/>
              </a:rPr>
              <a:t>Results</a:t>
            </a:r>
          </a:p>
        </p:txBody>
      </p:sp>
      <p:sp>
        <p:nvSpPr>
          <p:cNvPr id="35843" name="Rectangle 3"/>
          <p:cNvSpPr>
            <a:spLocks noGrp="1" noChangeArrowheads="1"/>
          </p:cNvSpPr>
          <p:nvPr>
            <p:ph idx="1"/>
          </p:nvPr>
        </p:nvSpPr>
        <p:spPr/>
        <p:txBody>
          <a:bodyPr/>
          <a:lstStyle/>
          <a:p>
            <a:pPr eaLnBrk="1" hangingPunct="1">
              <a:lnSpc>
                <a:spcPct val="90000"/>
              </a:lnSpc>
              <a:buFont typeface="Arial"/>
              <a:buChar char="•"/>
            </a:pPr>
            <a:r>
              <a:rPr lang="en-US" sz="2800" dirty="0">
                <a:solidFill>
                  <a:schemeClr val="bg2">
                    <a:lumMod val="50000"/>
                  </a:schemeClr>
                </a:solidFill>
                <a:latin typeface="Helvetica" charset="0"/>
                <a:ea typeface="Helvetica" charset="0"/>
                <a:cs typeface="Helvetica" charset="0"/>
              </a:rPr>
              <a:t>Graphs are great… make sure people understand them</a:t>
            </a:r>
            <a:br>
              <a:rPr lang="en-US" sz="2800" dirty="0">
                <a:solidFill>
                  <a:schemeClr val="bg2">
                    <a:lumMod val="50000"/>
                  </a:schemeClr>
                </a:solidFill>
                <a:latin typeface="Helvetica" charset="0"/>
                <a:ea typeface="Helvetica" charset="0"/>
                <a:cs typeface="Helvetica" charset="0"/>
              </a:rPr>
            </a:br>
            <a:endParaRPr lang="en-US" sz="2800" dirty="0">
              <a:solidFill>
                <a:schemeClr val="bg2">
                  <a:lumMod val="50000"/>
                </a:schemeClr>
              </a:solidFill>
              <a:latin typeface="Helvetica" charset="0"/>
              <a:ea typeface="Helvetica" charset="0"/>
              <a:cs typeface="Helvetica" charset="0"/>
            </a:endParaRPr>
          </a:p>
          <a:p>
            <a:pPr lvl="1" eaLnBrk="1" hangingPunct="1">
              <a:lnSpc>
                <a:spcPct val="90000"/>
              </a:lnSpc>
              <a:buFont typeface="Arial"/>
              <a:buChar char="•"/>
            </a:pPr>
            <a:r>
              <a:rPr lang="en-US" sz="2400" dirty="0">
                <a:solidFill>
                  <a:schemeClr val="bg2">
                    <a:lumMod val="50000"/>
                  </a:schemeClr>
                </a:solidFill>
                <a:latin typeface="Helvetica" charset="0"/>
                <a:ea typeface="Helvetica" charset="0"/>
                <a:cs typeface="Helvetica" charset="0"/>
              </a:rPr>
              <a:t>Use appropriate </a:t>
            </a:r>
            <a:r>
              <a:rPr lang="en-US" sz="2400" dirty="0" err="1">
                <a:solidFill>
                  <a:schemeClr val="bg2">
                    <a:lumMod val="50000"/>
                  </a:schemeClr>
                </a:solidFill>
                <a:latin typeface="Helvetica" charset="0"/>
                <a:ea typeface="Helvetica" charset="0"/>
                <a:cs typeface="Helvetica" charset="0"/>
              </a:rPr>
              <a:t>colours</a:t>
            </a:r>
            <a:r>
              <a:rPr lang="en-US" sz="2400" dirty="0">
                <a:solidFill>
                  <a:schemeClr val="bg2">
                    <a:lumMod val="50000"/>
                  </a:schemeClr>
                </a:solidFill>
                <a:latin typeface="Helvetica" charset="0"/>
                <a:ea typeface="Helvetica" charset="0"/>
                <a:cs typeface="Helvetica" charset="0"/>
              </a:rPr>
              <a:t> </a:t>
            </a:r>
          </a:p>
          <a:p>
            <a:pPr lvl="1" eaLnBrk="1" hangingPunct="1">
              <a:lnSpc>
                <a:spcPct val="90000"/>
              </a:lnSpc>
              <a:buFont typeface="Arial"/>
              <a:buChar char="•"/>
            </a:pPr>
            <a:r>
              <a:rPr lang="en-US" sz="1200" dirty="0">
                <a:solidFill>
                  <a:schemeClr val="bg2">
                    <a:lumMod val="50000"/>
                  </a:schemeClr>
                </a:solidFill>
                <a:latin typeface="Helvetica" charset="0"/>
                <a:ea typeface="Helvetica" charset="0"/>
                <a:cs typeface="Helvetica" charset="0"/>
              </a:rPr>
              <a:t>and sizes</a:t>
            </a:r>
            <a:br>
              <a:rPr lang="en-US" sz="1200" dirty="0">
                <a:solidFill>
                  <a:schemeClr val="bg2">
                    <a:lumMod val="50000"/>
                  </a:schemeClr>
                </a:solidFill>
                <a:latin typeface="Helvetica" charset="0"/>
                <a:ea typeface="Helvetica" charset="0"/>
                <a:cs typeface="Helvetica" charset="0"/>
              </a:rPr>
            </a:br>
            <a:endParaRPr lang="en-US" sz="1200" dirty="0">
              <a:solidFill>
                <a:schemeClr val="bg2">
                  <a:lumMod val="50000"/>
                </a:schemeClr>
              </a:solidFill>
              <a:latin typeface="Helvetica" charset="0"/>
              <a:ea typeface="Helvetica" charset="0"/>
              <a:cs typeface="Helvetica" charset="0"/>
            </a:endParaRPr>
          </a:p>
          <a:p>
            <a:pPr lvl="1" eaLnBrk="1" hangingPunct="1">
              <a:lnSpc>
                <a:spcPct val="90000"/>
              </a:lnSpc>
              <a:buFont typeface="Arial"/>
              <a:buChar char="•"/>
            </a:pPr>
            <a:r>
              <a:rPr lang="en-US" sz="2400" dirty="0">
                <a:solidFill>
                  <a:schemeClr val="bg2">
                    <a:lumMod val="50000"/>
                  </a:schemeClr>
                </a:solidFill>
                <a:latin typeface="Helvetica" charset="0"/>
                <a:ea typeface="Helvetica" charset="0"/>
                <a:cs typeface="Helvetica" charset="0"/>
              </a:rPr>
              <a:t>Talk the audience through the axes</a:t>
            </a:r>
          </a:p>
          <a:p>
            <a:pPr eaLnBrk="1" hangingPunct="1">
              <a:lnSpc>
                <a:spcPct val="90000"/>
              </a:lnSpc>
            </a:pPr>
            <a:endParaRPr lang="en-US"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6002010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5"/>
          <p:cNvSpPr>
            <a:spLocks noChangeArrowheads="1"/>
          </p:cNvSpPr>
          <p:nvPr/>
        </p:nvSpPr>
        <p:spPr bwMode="auto">
          <a:xfrm>
            <a:off x="914400" y="18288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pPr>
            <a:endParaRPr lang="en-US" sz="3200"/>
          </a:p>
          <a:p>
            <a:pPr marL="342900" indent="-342900">
              <a:spcBef>
                <a:spcPct val="20000"/>
              </a:spcBef>
            </a:pPr>
            <a:endParaRPr lang="en-US" sz="3200"/>
          </a:p>
          <a:p>
            <a:pPr marL="342900" indent="-342900">
              <a:spcBef>
                <a:spcPct val="20000"/>
              </a:spcBef>
            </a:pPr>
            <a:endParaRPr lang="en-US" sz="3200"/>
          </a:p>
        </p:txBody>
      </p:sp>
      <p:sp>
        <p:nvSpPr>
          <p:cNvPr id="40963" name="Rectangle 1"/>
          <p:cNvSpPr>
            <a:spLocks noChangeArrowheads="1"/>
          </p:cNvSpPr>
          <p:nvPr/>
        </p:nvSpPr>
        <p:spPr bwMode="auto">
          <a:xfrm>
            <a:off x="0" y="48484"/>
            <a:ext cx="9804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defRPr/>
            </a:pPr>
            <a:r>
              <a:rPr lang="en-US" sz="3200" b="1" dirty="0" smtClean="0">
                <a:solidFill>
                  <a:schemeClr val="bg2">
                    <a:lumMod val="50000"/>
                  </a:schemeClr>
                </a:solidFill>
                <a:latin typeface="Helvetica" charset="0"/>
                <a:ea typeface="Helvetica" charset="0"/>
                <a:cs typeface="Helvetica" charset="0"/>
              </a:rPr>
              <a:t>1) Does angry expression increase perceived strength </a:t>
            </a:r>
            <a:endParaRPr lang="en-US" sz="3200" b="1" dirty="0">
              <a:solidFill>
                <a:schemeClr val="bg2">
                  <a:lumMod val="50000"/>
                </a:schemeClr>
              </a:solidFill>
              <a:latin typeface="Helvetica" charset="0"/>
              <a:ea typeface="Helvetica" charset="0"/>
              <a:cs typeface="Helvetica" charset="0"/>
            </a:endParaRPr>
          </a:p>
        </p:txBody>
      </p:sp>
      <p:graphicFrame>
        <p:nvGraphicFramePr>
          <p:cNvPr id="2" name="Chart 1"/>
          <p:cNvGraphicFramePr/>
          <p:nvPr>
            <p:extLst>
              <p:ext uri="{D42A27DB-BD31-4B8C-83A1-F6EECF244321}">
                <p14:modId xmlns:p14="http://schemas.microsoft.com/office/powerpoint/2010/main" val="3674877754"/>
              </p:ext>
            </p:extLst>
          </p:nvPr>
        </p:nvGraphicFramePr>
        <p:xfrm>
          <a:off x="4084638" y="1828800"/>
          <a:ext cx="6943581" cy="4402577"/>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7148087" y="6287593"/>
            <a:ext cx="1453418" cy="400110"/>
          </a:xfrm>
          <a:prstGeom prst="rect">
            <a:avLst/>
          </a:prstGeom>
          <a:noFill/>
        </p:spPr>
        <p:txBody>
          <a:bodyPr wrap="none" rtlCol="0">
            <a:spAutoFit/>
          </a:bodyPr>
          <a:lstStyle/>
          <a:p>
            <a:r>
              <a:rPr lang="en-US" sz="2000" dirty="0" smtClean="0">
                <a:solidFill>
                  <a:srgbClr val="767171"/>
                </a:solidFill>
                <a:latin typeface="Helvetica"/>
                <a:cs typeface="Helvetica"/>
              </a:rPr>
              <a:t>Expression</a:t>
            </a:r>
            <a:endParaRPr lang="en-US" sz="2000" dirty="0">
              <a:solidFill>
                <a:srgbClr val="767171"/>
              </a:solidFill>
              <a:latin typeface="Helvetica"/>
              <a:cs typeface="Helvetica"/>
            </a:endParaRPr>
          </a:p>
        </p:txBody>
      </p:sp>
      <p:sp>
        <p:nvSpPr>
          <p:cNvPr id="4" name="TextBox 3"/>
          <p:cNvSpPr txBox="1"/>
          <p:nvPr/>
        </p:nvSpPr>
        <p:spPr>
          <a:xfrm rot="16200000">
            <a:off x="2738387" y="3630377"/>
            <a:ext cx="2323172" cy="400110"/>
          </a:xfrm>
          <a:prstGeom prst="rect">
            <a:avLst/>
          </a:prstGeom>
          <a:noFill/>
        </p:spPr>
        <p:txBody>
          <a:bodyPr wrap="none" rtlCol="0">
            <a:spAutoFit/>
          </a:bodyPr>
          <a:lstStyle/>
          <a:p>
            <a:r>
              <a:rPr lang="en-US" sz="2000" dirty="0" smtClean="0">
                <a:solidFill>
                  <a:schemeClr val="bg2">
                    <a:lumMod val="50000"/>
                  </a:schemeClr>
                </a:solidFill>
                <a:latin typeface="Helvetica"/>
                <a:cs typeface="Helvetica"/>
              </a:rPr>
              <a:t>Perceived strength</a:t>
            </a:r>
            <a:endParaRPr lang="en-US" sz="2000" dirty="0">
              <a:solidFill>
                <a:schemeClr val="bg2">
                  <a:lumMod val="50000"/>
                </a:schemeClr>
              </a:solidFill>
              <a:latin typeface="Helvetica"/>
              <a:cs typeface="Helvetica"/>
            </a:endParaRPr>
          </a:p>
        </p:txBody>
      </p:sp>
      <p:sp>
        <p:nvSpPr>
          <p:cNvPr id="6" name="Left Bracket 5"/>
          <p:cNvSpPr/>
          <p:nvPr/>
        </p:nvSpPr>
        <p:spPr>
          <a:xfrm rot="5400000">
            <a:off x="6511085" y="1006250"/>
            <a:ext cx="341417" cy="1986517"/>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p:cNvSpPr txBox="1"/>
          <p:nvPr/>
        </p:nvSpPr>
        <p:spPr>
          <a:xfrm>
            <a:off x="6541957" y="1365455"/>
            <a:ext cx="299631" cy="369332"/>
          </a:xfrm>
          <a:prstGeom prst="rect">
            <a:avLst/>
          </a:prstGeom>
          <a:noFill/>
        </p:spPr>
        <p:txBody>
          <a:bodyPr wrap="none" rtlCol="0">
            <a:spAutoFit/>
          </a:bodyPr>
          <a:lstStyle/>
          <a:p>
            <a:r>
              <a:rPr lang="en-US" dirty="0" smtClean="0"/>
              <a:t>*</a:t>
            </a:r>
            <a:endParaRPr lang="en-US" dirty="0"/>
          </a:p>
        </p:txBody>
      </p:sp>
      <p:sp>
        <p:nvSpPr>
          <p:cNvPr id="10" name="Left Bracket 9"/>
          <p:cNvSpPr/>
          <p:nvPr/>
        </p:nvSpPr>
        <p:spPr>
          <a:xfrm rot="5400000">
            <a:off x="8650002" y="2291978"/>
            <a:ext cx="341417" cy="1986517"/>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p:cNvSpPr txBox="1"/>
          <p:nvPr/>
        </p:nvSpPr>
        <p:spPr>
          <a:xfrm>
            <a:off x="8601505" y="2668846"/>
            <a:ext cx="396225" cy="369332"/>
          </a:xfrm>
          <a:prstGeom prst="rect">
            <a:avLst/>
          </a:prstGeom>
          <a:noFill/>
        </p:spPr>
        <p:txBody>
          <a:bodyPr wrap="none" rtlCol="0">
            <a:spAutoFit/>
          </a:bodyPr>
          <a:lstStyle/>
          <a:p>
            <a:r>
              <a:rPr lang="en-US" dirty="0" smtClean="0"/>
              <a:t>ns</a:t>
            </a:r>
            <a:endParaRPr lang="en-US" dirty="0"/>
          </a:p>
        </p:txBody>
      </p:sp>
    </p:spTree>
    <p:extLst>
      <p:ext uri="{BB962C8B-B14F-4D97-AF65-F5344CB8AC3E}">
        <p14:creationId xmlns:p14="http://schemas.microsoft.com/office/powerpoint/2010/main" val="2063642604"/>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912284" y="404813"/>
            <a:ext cx="10363200" cy="1143000"/>
          </a:xfrm>
        </p:spPr>
        <p:txBody>
          <a:bodyPr/>
          <a:lstStyle/>
          <a:p>
            <a:pPr eaLnBrk="1" hangingPunct="1"/>
            <a:r>
              <a:rPr lang="en-US" b="1" dirty="0">
                <a:solidFill>
                  <a:schemeClr val="accent1">
                    <a:lumMod val="75000"/>
                  </a:schemeClr>
                </a:solidFill>
                <a:latin typeface="Helvetica" charset="0"/>
                <a:ea typeface="Helvetica" charset="0"/>
                <a:cs typeface="Helvetica" charset="0"/>
              </a:rPr>
              <a:t>Don</a:t>
            </a:r>
            <a:r>
              <a:rPr lang="en-AU" b="1" dirty="0">
                <a:solidFill>
                  <a:schemeClr val="accent1">
                    <a:lumMod val="75000"/>
                  </a:schemeClr>
                </a:solidFill>
                <a:latin typeface="Helvetica" charset="0"/>
                <a:ea typeface="Helvetica" charset="0"/>
                <a:cs typeface="Helvetica" charset="0"/>
              </a:rPr>
              <a:t>’</a:t>
            </a:r>
            <a:r>
              <a:rPr lang="en-US" altLang="ja-JP" b="1" dirty="0">
                <a:solidFill>
                  <a:schemeClr val="accent1">
                    <a:lumMod val="75000"/>
                  </a:schemeClr>
                </a:solidFill>
                <a:latin typeface="Helvetica" charset="0"/>
                <a:ea typeface="Helvetica" charset="0"/>
                <a:cs typeface="Helvetica" charset="0"/>
              </a:rPr>
              <a:t>t overload</a:t>
            </a:r>
            <a:r>
              <a:rPr lang="en-US" altLang="ja-JP" b="1" dirty="0">
                <a:solidFill>
                  <a:schemeClr val="bg2">
                    <a:lumMod val="50000"/>
                  </a:schemeClr>
                </a:solidFill>
                <a:latin typeface="Helvetica" charset="0"/>
                <a:ea typeface="Helvetica" charset="0"/>
                <a:cs typeface="Helvetica" charset="0"/>
              </a:rPr>
              <a:t> your audience</a:t>
            </a:r>
            <a:endParaRPr lang="en-US" b="1" dirty="0">
              <a:solidFill>
                <a:schemeClr val="bg2">
                  <a:lumMod val="50000"/>
                </a:schemeClr>
              </a:solidFill>
              <a:latin typeface="Helvetica" charset="0"/>
              <a:ea typeface="Helvetica" charset="0"/>
              <a:cs typeface="Helvetica" charset="0"/>
            </a:endParaRPr>
          </a:p>
        </p:txBody>
      </p:sp>
      <p:sp>
        <p:nvSpPr>
          <p:cNvPr id="11267" name="Rectangle 3"/>
          <p:cNvSpPr>
            <a:spLocks noGrp="1" noChangeArrowheads="1"/>
          </p:cNvSpPr>
          <p:nvPr>
            <p:ph idx="1"/>
          </p:nvPr>
        </p:nvSpPr>
        <p:spPr>
          <a:xfrm>
            <a:off x="912284" y="1700213"/>
            <a:ext cx="10363200" cy="4114800"/>
          </a:xfrm>
        </p:spPr>
        <p:txBody>
          <a:bodyPr/>
          <a:lstStyle/>
          <a:p>
            <a:pPr eaLnBrk="1" hangingPunct="1">
              <a:buFont typeface="Arial"/>
              <a:buChar char="•"/>
            </a:pPr>
            <a:r>
              <a:rPr lang="en-US" sz="2800" dirty="0">
                <a:solidFill>
                  <a:schemeClr val="bg2">
                    <a:lumMod val="50000"/>
                  </a:schemeClr>
                </a:solidFill>
                <a:latin typeface="Helvetica" charset="0"/>
                <a:ea typeface="Helvetica" charset="0"/>
                <a:cs typeface="Helvetica" charset="0"/>
              </a:rPr>
              <a:t>Limited information on slides</a:t>
            </a:r>
          </a:p>
          <a:p>
            <a:pPr lvl="1" eaLnBrk="1" hangingPunct="1">
              <a:buFont typeface="Arial"/>
              <a:buChar char="•"/>
            </a:pPr>
            <a:r>
              <a:rPr lang="en-US" sz="2400" dirty="0">
                <a:solidFill>
                  <a:schemeClr val="bg2">
                    <a:lumMod val="50000"/>
                  </a:schemeClr>
                </a:solidFill>
                <a:latin typeface="Helvetica" charset="0"/>
                <a:ea typeface="Helvetica" charset="0"/>
                <a:cs typeface="Helvetica" charset="0"/>
              </a:rPr>
              <a:t>Especially text</a:t>
            </a:r>
            <a:r>
              <a:rPr lang="en-US" dirty="0">
                <a:solidFill>
                  <a:schemeClr val="bg2">
                    <a:lumMod val="50000"/>
                  </a:schemeClr>
                </a:solidFill>
                <a:latin typeface="Helvetica" charset="0"/>
                <a:ea typeface="Helvetica" charset="0"/>
                <a:cs typeface="Helvetica" charset="0"/>
              </a:rPr>
              <a:t/>
            </a:r>
            <a:br>
              <a:rPr lang="en-US" dirty="0">
                <a:solidFill>
                  <a:schemeClr val="bg2">
                    <a:lumMod val="50000"/>
                  </a:schemeClr>
                </a:solidFill>
                <a:latin typeface="Helvetica" charset="0"/>
                <a:ea typeface="Helvetica" charset="0"/>
                <a:cs typeface="Helvetica" charset="0"/>
              </a:rPr>
            </a:br>
            <a:endParaRPr lang="en-US" dirty="0">
              <a:solidFill>
                <a:schemeClr val="bg2">
                  <a:lumMod val="50000"/>
                </a:schemeClr>
              </a:solidFill>
              <a:latin typeface="Helvetica" charset="0"/>
              <a:ea typeface="Helvetica" charset="0"/>
              <a:cs typeface="Helvetica" charset="0"/>
            </a:endParaRPr>
          </a:p>
          <a:p>
            <a:pPr eaLnBrk="1" hangingPunct="1">
              <a:buFont typeface="Arial"/>
              <a:buChar char="•"/>
            </a:pPr>
            <a:r>
              <a:rPr lang="en-US" sz="2800" dirty="0">
                <a:solidFill>
                  <a:schemeClr val="bg2">
                    <a:lumMod val="50000"/>
                  </a:schemeClr>
                </a:solidFill>
                <a:latin typeface="Helvetica" charset="0"/>
                <a:ea typeface="Helvetica" charset="0"/>
                <a:cs typeface="Helvetica" charset="0"/>
              </a:rPr>
              <a:t>Present things in order of </a:t>
            </a:r>
            <a:br>
              <a:rPr lang="en-US" sz="2800" dirty="0">
                <a:solidFill>
                  <a:schemeClr val="bg2">
                    <a:lumMod val="50000"/>
                  </a:schemeClr>
                </a:solidFill>
                <a:latin typeface="Helvetica" charset="0"/>
                <a:ea typeface="Helvetica" charset="0"/>
                <a:cs typeface="Helvetica" charset="0"/>
              </a:rPr>
            </a:br>
            <a:r>
              <a:rPr lang="en-US" sz="2800" dirty="0" smtClean="0">
                <a:solidFill>
                  <a:schemeClr val="bg2">
                    <a:lumMod val="50000"/>
                  </a:schemeClr>
                </a:solidFill>
                <a:latin typeface="Helvetica" charset="0"/>
                <a:ea typeface="Helvetica" charset="0"/>
                <a:cs typeface="Helvetica" charset="0"/>
              </a:rPr>
              <a:t>importance</a:t>
            </a:r>
            <a:r>
              <a:rPr lang="en-US" sz="2800" dirty="0">
                <a:solidFill>
                  <a:schemeClr val="bg2">
                    <a:lumMod val="50000"/>
                  </a:schemeClr>
                </a:solidFill>
                <a:latin typeface="Helvetica" charset="0"/>
                <a:ea typeface="Helvetica" charset="0"/>
                <a:cs typeface="Helvetica" charset="0"/>
              </a:rPr>
              <a:t/>
            </a:r>
            <a:br>
              <a:rPr lang="en-US" sz="2800" dirty="0">
                <a:solidFill>
                  <a:schemeClr val="bg2">
                    <a:lumMod val="50000"/>
                  </a:schemeClr>
                </a:solidFill>
                <a:latin typeface="Helvetica" charset="0"/>
                <a:ea typeface="Helvetica" charset="0"/>
                <a:cs typeface="Helvetica" charset="0"/>
              </a:rPr>
            </a:br>
            <a:endParaRPr lang="en-US" sz="2800" dirty="0">
              <a:solidFill>
                <a:schemeClr val="bg2">
                  <a:lumMod val="50000"/>
                </a:schemeClr>
              </a:solidFill>
              <a:latin typeface="Helvetica" charset="0"/>
              <a:ea typeface="Helvetica" charset="0"/>
              <a:cs typeface="Helvetica" charset="0"/>
            </a:endParaRPr>
          </a:p>
          <a:p>
            <a:pPr eaLnBrk="1" hangingPunct="1">
              <a:buFont typeface="Arial"/>
              <a:buChar char="•"/>
            </a:pPr>
            <a:r>
              <a:rPr lang="en-US" sz="2800" dirty="0">
                <a:solidFill>
                  <a:schemeClr val="bg2">
                    <a:lumMod val="50000"/>
                  </a:schemeClr>
                </a:solidFill>
                <a:latin typeface="Helvetica" charset="0"/>
                <a:ea typeface="Helvetica" charset="0"/>
                <a:cs typeface="Helvetica" charset="0"/>
              </a:rPr>
              <a:t>AA</a:t>
            </a:r>
          </a:p>
        </p:txBody>
      </p:sp>
    </p:spTree>
    <p:extLst>
      <p:ext uri="{BB962C8B-B14F-4D97-AF65-F5344CB8AC3E}">
        <p14:creationId xmlns:p14="http://schemas.microsoft.com/office/powerpoint/2010/main" val="206332800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550235" y="612860"/>
            <a:ext cx="7518400" cy="1143000"/>
          </a:xfrm>
        </p:spPr>
        <p:txBody>
          <a:bodyPr/>
          <a:lstStyle/>
          <a:p>
            <a:pPr eaLnBrk="1" hangingPunct="1"/>
            <a:r>
              <a:rPr lang="en-US" b="1" dirty="0">
                <a:solidFill>
                  <a:schemeClr val="bg2">
                    <a:lumMod val="50000"/>
                  </a:schemeClr>
                </a:solidFill>
                <a:latin typeface="Helvetica" charset="0"/>
                <a:ea typeface="Helvetica" charset="0"/>
                <a:cs typeface="Helvetica" charset="0"/>
              </a:rPr>
              <a:t>  </a:t>
            </a:r>
            <a:r>
              <a:rPr lang="en-US" sz="3600" b="1" dirty="0" smtClean="0">
                <a:solidFill>
                  <a:schemeClr val="bg2">
                    <a:lumMod val="50000"/>
                  </a:schemeClr>
                </a:solidFill>
                <a:latin typeface="Helvetica" charset="0"/>
                <a:ea typeface="Helvetica" charset="0"/>
                <a:cs typeface="Helvetica" charset="0"/>
              </a:rPr>
              <a:t>Lou’s tips to avoid </a:t>
            </a:r>
            <a:r>
              <a:rPr lang="en-US" sz="3600" b="1" dirty="0" smtClean="0">
                <a:solidFill>
                  <a:srgbClr val="C00000"/>
                </a:solidFill>
                <a:latin typeface="Helvetica" charset="0"/>
                <a:ea typeface="Helvetica" charset="0"/>
                <a:cs typeface="Helvetica" charset="0"/>
              </a:rPr>
              <a:t>DISASTER</a:t>
            </a:r>
            <a:endParaRPr lang="en-US" sz="3600" b="1" dirty="0">
              <a:solidFill>
                <a:srgbClr val="C00000"/>
              </a:solidFill>
              <a:latin typeface="Helvetica" charset="0"/>
              <a:ea typeface="Helvetica" charset="0"/>
              <a:cs typeface="Helvetica" charset="0"/>
            </a:endParaRPr>
          </a:p>
        </p:txBody>
      </p:sp>
      <p:sp>
        <p:nvSpPr>
          <p:cNvPr id="12291" name="Rectangle 3"/>
          <p:cNvSpPr>
            <a:spLocks noGrp="1" noChangeArrowheads="1"/>
          </p:cNvSpPr>
          <p:nvPr>
            <p:ph idx="1"/>
          </p:nvPr>
        </p:nvSpPr>
        <p:spPr>
          <a:xfrm>
            <a:off x="911425" y="1844825"/>
            <a:ext cx="11038417" cy="4105275"/>
          </a:xfrm>
        </p:spPr>
        <p:txBody>
          <a:bodyPr>
            <a:normAutofit fontScale="92500" lnSpcReduction="10000"/>
          </a:bodyPr>
          <a:lstStyle/>
          <a:p>
            <a:pPr eaLnBrk="1" hangingPunct="1">
              <a:lnSpc>
                <a:spcPct val="90000"/>
              </a:lnSpc>
              <a:buFont typeface="Arial"/>
              <a:buChar char="•"/>
            </a:pPr>
            <a:r>
              <a:rPr lang="en-US" sz="2800" dirty="0" smtClean="0">
                <a:solidFill>
                  <a:schemeClr val="bg2">
                    <a:lumMod val="50000"/>
                  </a:schemeClr>
                </a:solidFill>
                <a:latin typeface="Helvetica" charset="0"/>
                <a:ea typeface="Helvetica" charset="0"/>
                <a:cs typeface="Helvetica" charset="0"/>
              </a:rPr>
              <a:t>Avoid irrelevant pictures</a:t>
            </a:r>
          </a:p>
          <a:p>
            <a:pPr eaLnBrk="1" hangingPunct="1">
              <a:lnSpc>
                <a:spcPct val="90000"/>
              </a:lnSpc>
              <a:buFont typeface="Arial"/>
              <a:buChar char="•"/>
            </a:pPr>
            <a:r>
              <a:rPr lang="en-US" sz="2800" dirty="0" smtClean="0">
                <a:solidFill>
                  <a:schemeClr val="bg2">
                    <a:lumMod val="50000"/>
                  </a:schemeClr>
                </a:solidFill>
                <a:latin typeface="Helvetica" charset="0"/>
                <a:ea typeface="Helvetica" charset="0"/>
                <a:cs typeface="Helvetica" charset="0"/>
              </a:rPr>
              <a:t>Animate your bullet points</a:t>
            </a:r>
            <a:endParaRPr lang="en-US" dirty="0">
              <a:solidFill>
                <a:schemeClr val="bg2">
                  <a:lumMod val="50000"/>
                </a:schemeClr>
              </a:solidFill>
              <a:latin typeface="Helvetica" charset="0"/>
              <a:ea typeface="Helvetica" charset="0"/>
              <a:cs typeface="Helvetica" charset="0"/>
            </a:endParaRPr>
          </a:p>
          <a:p>
            <a:pPr eaLnBrk="1" hangingPunct="1">
              <a:lnSpc>
                <a:spcPct val="90000"/>
              </a:lnSpc>
              <a:buFont typeface="Arial"/>
              <a:buChar char="•"/>
            </a:pPr>
            <a:r>
              <a:rPr lang="en-US" sz="1000" b="1" dirty="0">
                <a:solidFill>
                  <a:schemeClr val="bg2">
                    <a:lumMod val="50000"/>
                  </a:schemeClr>
                </a:solidFill>
                <a:latin typeface="Helvetica" charset="0"/>
                <a:ea typeface="Helvetica" charset="0"/>
                <a:cs typeface="Helvetica" charset="0"/>
              </a:rPr>
              <a:t>One</a:t>
            </a:r>
            <a:r>
              <a:rPr lang="en-US" sz="2800" dirty="0">
                <a:solidFill>
                  <a:schemeClr val="bg2">
                    <a:lumMod val="50000"/>
                  </a:schemeClr>
                </a:solidFill>
                <a:latin typeface="Helvetica" charset="0"/>
                <a:ea typeface="Helvetica" charset="0"/>
                <a:cs typeface="Helvetica" charset="0"/>
              </a:rPr>
              <a:t> </a:t>
            </a:r>
            <a:r>
              <a:rPr lang="en-US" sz="4800" dirty="0">
                <a:solidFill>
                  <a:schemeClr val="bg2">
                    <a:lumMod val="50000"/>
                  </a:schemeClr>
                </a:solidFill>
                <a:latin typeface="Apple Chancery" charset="0"/>
                <a:ea typeface="Apple Chancery" charset="0"/>
                <a:cs typeface="Apple Chancery" charset="0"/>
              </a:rPr>
              <a:t>legible</a:t>
            </a:r>
            <a:r>
              <a:rPr lang="en-US" sz="4800" dirty="0">
                <a:solidFill>
                  <a:schemeClr val="bg2">
                    <a:lumMod val="50000"/>
                  </a:schemeClr>
                </a:solidFill>
                <a:latin typeface="Helvetica" charset="0"/>
                <a:ea typeface="Helvetica" charset="0"/>
                <a:cs typeface="Helvetica" charset="0"/>
              </a:rPr>
              <a:t> </a:t>
            </a:r>
            <a:r>
              <a:rPr lang="en-US" sz="2800" dirty="0">
                <a:solidFill>
                  <a:schemeClr val="bg2">
                    <a:lumMod val="50000"/>
                  </a:schemeClr>
                </a:solidFill>
                <a:latin typeface="Helvetica" charset="0"/>
                <a:ea typeface="Helvetica" charset="0"/>
                <a:cs typeface="Helvetica" charset="0"/>
              </a:rPr>
              <a:t>font</a:t>
            </a:r>
            <a:br>
              <a:rPr lang="en-US" sz="2800" dirty="0">
                <a:solidFill>
                  <a:schemeClr val="bg2">
                    <a:lumMod val="50000"/>
                  </a:schemeClr>
                </a:solidFill>
                <a:latin typeface="Helvetica" charset="0"/>
                <a:ea typeface="Helvetica" charset="0"/>
                <a:cs typeface="Helvetica" charset="0"/>
              </a:rPr>
            </a:br>
            <a:endParaRPr lang="en-US" sz="2800" dirty="0">
              <a:solidFill>
                <a:schemeClr val="bg2">
                  <a:lumMod val="50000"/>
                </a:schemeClr>
              </a:solidFill>
              <a:latin typeface="Helvetica" charset="0"/>
              <a:ea typeface="Helvetica" charset="0"/>
              <a:cs typeface="Helvetica" charset="0"/>
            </a:endParaRPr>
          </a:p>
          <a:p>
            <a:pPr eaLnBrk="1" hangingPunct="1">
              <a:lnSpc>
                <a:spcPct val="90000"/>
              </a:lnSpc>
              <a:buFont typeface="Arial"/>
              <a:buChar char="•"/>
            </a:pPr>
            <a:r>
              <a:rPr lang="en-US" sz="2800" dirty="0">
                <a:solidFill>
                  <a:schemeClr val="bg2">
                    <a:lumMod val="50000"/>
                  </a:schemeClr>
                </a:solidFill>
                <a:latin typeface="Helvetica" charset="0"/>
                <a:ea typeface="Helvetica" charset="0"/>
                <a:cs typeface="Helvetica" charset="0"/>
              </a:rPr>
              <a:t>Be prepared</a:t>
            </a:r>
          </a:p>
          <a:p>
            <a:pPr lvl="1" eaLnBrk="1" hangingPunct="1">
              <a:lnSpc>
                <a:spcPct val="90000"/>
              </a:lnSpc>
              <a:buFont typeface="Arial"/>
              <a:buChar char="•"/>
            </a:pPr>
            <a:r>
              <a:rPr lang="en-US" sz="2600" dirty="0">
                <a:solidFill>
                  <a:schemeClr val="bg2">
                    <a:lumMod val="50000"/>
                  </a:schemeClr>
                </a:solidFill>
                <a:latin typeface="Helvetica" charset="0"/>
                <a:ea typeface="Helvetica" charset="0"/>
                <a:cs typeface="Helvetica" charset="0"/>
              </a:rPr>
              <a:t>Always be in the room 10 minutes before you expect anyone else</a:t>
            </a:r>
          </a:p>
          <a:p>
            <a:pPr lvl="1" eaLnBrk="1" hangingPunct="1">
              <a:lnSpc>
                <a:spcPct val="90000"/>
              </a:lnSpc>
              <a:buFont typeface="Arial"/>
              <a:buChar char="•"/>
            </a:pPr>
            <a:r>
              <a:rPr lang="en-US" sz="2600" dirty="0">
                <a:solidFill>
                  <a:schemeClr val="bg2">
                    <a:lumMod val="50000"/>
                  </a:schemeClr>
                </a:solidFill>
                <a:latin typeface="Helvetica" charset="0"/>
                <a:ea typeface="Helvetica" charset="0"/>
                <a:cs typeface="Helvetica" charset="0"/>
              </a:rPr>
              <a:t>Check that your slides work ok</a:t>
            </a:r>
          </a:p>
          <a:p>
            <a:pPr eaLnBrk="1" hangingPunct="1">
              <a:lnSpc>
                <a:spcPct val="90000"/>
              </a:lnSpc>
              <a:buFont typeface="Arial"/>
              <a:buChar char="•"/>
            </a:pPr>
            <a:endParaRPr lang="en-US" sz="2800" dirty="0">
              <a:solidFill>
                <a:schemeClr val="bg2">
                  <a:lumMod val="50000"/>
                </a:schemeClr>
              </a:solidFill>
              <a:latin typeface="Helvetica" charset="0"/>
              <a:ea typeface="Helvetica" charset="0"/>
              <a:cs typeface="Helvetica" charset="0"/>
            </a:endParaRPr>
          </a:p>
          <a:p>
            <a:pPr eaLnBrk="1" hangingPunct="1">
              <a:lnSpc>
                <a:spcPct val="90000"/>
              </a:lnSpc>
              <a:buFont typeface="Arial"/>
              <a:buChar char="•"/>
            </a:pPr>
            <a:r>
              <a:rPr lang="en-US" sz="2800" dirty="0">
                <a:solidFill>
                  <a:schemeClr val="bg2">
                    <a:lumMod val="50000"/>
                  </a:schemeClr>
                </a:solidFill>
                <a:latin typeface="Helvetica" charset="0"/>
                <a:ea typeface="Helvetica" charset="0"/>
                <a:cs typeface="Helvetica" charset="0"/>
              </a:rPr>
              <a:t>Think about </a:t>
            </a:r>
            <a:r>
              <a:rPr lang="en-US" sz="2800" b="1" dirty="0">
                <a:solidFill>
                  <a:schemeClr val="bg2">
                    <a:lumMod val="50000"/>
                  </a:schemeClr>
                </a:solidFill>
                <a:latin typeface="Helvetica" charset="0"/>
                <a:ea typeface="Helvetica" charset="0"/>
                <a:cs typeface="Helvetica" charset="0"/>
              </a:rPr>
              <a:t>your</a:t>
            </a:r>
            <a:r>
              <a:rPr lang="en-US" sz="2800" dirty="0">
                <a:solidFill>
                  <a:schemeClr val="bg2">
                    <a:lumMod val="50000"/>
                  </a:schemeClr>
                </a:solidFill>
                <a:latin typeface="Helvetica" charset="0"/>
                <a:ea typeface="Helvetica" charset="0"/>
                <a:cs typeface="Helvetica" charset="0"/>
              </a:rPr>
              <a:t> delivery</a:t>
            </a:r>
          </a:p>
        </p:txBody>
      </p:sp>
      <p:grpSp>
        <p:nvGrpSpPr>
          <p:cNvPr id="7" name="Group 6"/>
          <p:cNvGrpSpPr>
            <a:grpSpLocks/>
          </p:cNvGrpSpPr>
          <p:nvPr/>
        </p:nvGrpSpPr>
        <p:grpSpPr bwMode="auto">
          <a:xfrm>
            <a:off x="6480555" y="457201"/>
            <a:ext cx="5669112" cy="4206875"/>
            <a:chOff x="4860032" y="457190"/>
            <a:chExt cx="4251498" cy="4206786"/>
          </a:xfrm>
        </p:grpSpPr>
        <p:pic>
          <p:nvPicPr>
            <p:cNvPr id="12294" name="Picture 6"/>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43130" y="457190"/>
              <a:ext cx="2057237" cy="1862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50182" name="Picture 2" descr="pets dressed up 1.jp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802506" y="2060848"/>
              <a:ext cx="2309024" cy="167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4" descr="pets dressed up 3.jpg"/>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860032" y="2204864"/>
              <a:ext cx="2012437" cy="24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7681730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91">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397" y="1458000"/>
            <a:ext cx="9223603" cy="5400000"/>
          </a:xfrm>
          <a:prstGeom prst="rect">
            <a:avLst/>
          </a:prstGeom>
        </p:spPr>
      </p:pic>
      <p:sp>
        <p:nvSpPr>
          <p:cNvPr id="2" name="Title 1"/>
          <p:cNvSpPr>
            <a:spLocks noGrp="1"/>
          </p:cNvSpPr>
          <p:nvPr>
            <p:ph type="title"/>
          </p:nvPr>
        </p:nvSpPr>
        <p:spPr>
          <a:xfrm>
            <a:off x="317014" y="795218"/>
            <a:ext cx="7308272" cy="1325563"/>
          </a:xfrm>
        </p:spPr>
        <p:txBody>
          <a:bodyPr/>
          <a:lstStyle/>
          <a:p>
            <a:r>
              <a:rPr lang="en-US" b="1" dirty="0" smtClean="0">
                <a:solidFill>
                  <a:schemeClr val="bg2">
                    <a:lumMod val="50000"/>
                  </a:schemeClr>
                </a:solidFill>
                <a:latin typeface="Helvetica" charset="0"/>
                <a:ea typeface="Helvetica" charset="0"/>
                <a:cs typeface="Helvetica" charset="0"/>
              </a:rPr>
              <a:t>Let’s see an example from Steve Jobs</a:t>
            </a:r>
            <a:endParaRPr lang="en-US" b="1" dirty="0">
              <a:solidFill>
                <a:schemeClr val="bg2">
                  <a:lumMod val="50000"/>
                </a:schemeClr>
              </a:solidFill>
              <a:latin typeface="Helvetica" charset="0"/>
              <a:ea typeface="Helvetica" charset="0"/>
              <a:cs typeface="Helvetica" charset="0"/>
            </a:endParaRPr>
          </a:p>
        </p:txBody>
      </p:sp>
      <p:sp>
        <p:nvSpPr>
          <p:cNvPr id="6" name="TextBox 5"/>
          <p:cNvSpPr txBox="1"/>
          <p:nvPr/>
        </p:nvSpPr>
        <p:spPr>
          <a:xfrm>
            <a:off x="317014" y="2598897"/>
            <a:ext cx="5205656" cy="369332"/>
          </a:xfrm>
          <a:prstGeom prst="rect">
            <a:avLst/>
          </a:prstGeom>
          <a:noFill/>
        </p:spPr>
        <p:txBody>
          <a:bodyPr wrap="none" rtlCol="0">
            <a:spAutoFit/>
          </a:bodyPr>
          <a:lstStyle/>
          <a:p>
            <a:r>
              <a:rPr lang="en-US" dirty="0">
                <a:solidFill>
                  <a:schemeClr val="bg2">
                    <a:lumMod val="50000"/>
                  </a:schemeClr>
                </a:solidFill>
                <a:latin typeface="Helvetica" charset="0"/>
                <a:ea typeface="Helvetica" charset="0"/>
                <a:cs typeface="Helvetica" charset="0"/>
              </a:rPr>
              <a:t>https://</a:t>
            </a:r>
            <a:r>
              <a:rPr lang="en-US" dirty="0" err="1">
                <a:solidFill>
                  <a:schemeClr val="bg2">
                    <a:lumMod val="50000"/>
                  </a:schemeClr>
                </a:solidFill>
                <a:latin typeface="Helvetica" charset="0"/>
                <a:ea typeface="Helvetica" charset="0"/>
                <a:cs typeface="Helvetica" charset="0"/>
              </a:rPr>
              <a:t>www.youtube.com</a:t>
            </a:r>
            <a:r>
              <a:rPr lang="en-US" dirty="0">
                <a:solidFill>
                  <a:schemeClr val="bg2">
                    <a:lumMod val="50000"/>
                  </a:schemeClr>
                </a:solidFill>
                <a:latin typeface="Helvetica" charset="0"/>
                <a:ea typeface="Helvetica" charset="0"/>
                <a:cs typeface="Helvetica" charset="0"/>
              </a:rPr>
              <a:t>/</a:t>
            </a:r>
            <a:r>
              <a:rPr lang="en-US" dirty="0" err="1">
                <a:solidFill>
                  <a:schemeClr val="bg2">
                    <a:lumMod val="50000"/>
                  </a:schemeClr>
                </a:solidFill>
                <a:latin typeface="Helvetica" charset="0"/>
                <a:ea typeface="Helvetica" charset="0"/>
                <a:cs typeface="Helvetica" charset="0"/>
              </a:rPr>
              <a:t>watch?v</a:t>
            </a:r>
            <a:r>
              <a:rPr lang="en-US" dirty="0">
                <a:solidFill>
                  <a:schemeClr val="bg2">
                    <a:lumMod val="50000"/>
                  </a:schemeClr>
                </a:solidFill>
                <a:latin typeface="Helvetica" charset="0"/>
                <a:ea typeface="Helvetica" charset="0"/>
                <a:cs typeface="Helvetica" charset="0"/>
              </a:rPr>
              <a:t>=9hUIxyE2Ns8</a:t>
            </a:r>
          </a:p>
        </p:txBody>
      </p:sp>
    </p:spTree>
    <p:extLst>
      <p:ext uri="{BB962C8B-B14F-4D97-AF65-F5344CB8AC3E}">
        <p14:creationId xmlns:p14="http://schemas.microsoft.com/office/powerpoint/2010/main" val="170762588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397" y="1458000"/>
            <a:ext cx="9223603" cy="5400000"/>
          </a:xfrm>
          <a:prstGeom prst="rect">
            <a:avLst/>
          </a:prstGeom>
        </p:spPr>
      </p:pic>
      <p:sp>
        <p:nvSpPr>
          <p:cNvPr id="2" name="Title 1"/>
          <p:cNvSpPr>
            <a:spLocks noGrp="1"/>
          </p:cNvSpPr>
          <p:nvPr>
            <p:ph type="title"/>
          </p:nvPr>
        </p:nvSpPr>
        <p:spPr>
          <a:xfrm>
            <a:off x="317014" y="795218"/>
            <a:ext cx="7308272" cy="1325563"/>
          </a:xfrm>
        </p:spPr>
        <p:txBody>
          <a:bodyPr/>
          <a:lstStyle/>
          <a:p>
            <a:r>
              <a:rPr lang="en-US" b="1" dirty="0" smtClean="0">
                <a:solidFill>
                  <a:schemeClr val="bg2">
                    <a:lumMod val="50000"/>
                  </a:schemeClr>
                </a:solidFill>
                <a:latin typeface="Helvetica" charset="0"/>
                <a:ea typeface="Helvetica" charset="0"/>
                <a:cs typeface="Helvetica" charset="0"/>
              </a:rPr>
              <a:t>Learning from Steve</a:t>
            </a:r>
            <a:endParaRPr lang="en-US" b="1" dirty="0">
              <a:solidFill>
                <a:schemeClr val="bg2">
                  <a:lumMod val="50000"/>
                </a:schemeClr>
              </a:solidFill>
              <a:latin typeface="Helvetica" charset="0"/>
              <a:ea typeface="Helvetica" charset="0"/>
              <a:cs typeface="Helvetica" charset="0"/>
            </a:endParaRPr>
          </a:p>
        </p:txBody>
      </p:sp>
      <p:sp>
        <p:nvSpPr>
          <p:cNvPr id="6" name="TextBox 5"/>
          <p:cNvSpPr txBox="1"/>
          <p:nvPr/>
        </p:nvSpPr>
        <p:spPr>
          <a:xfrm>
            <a:off x="317014" y="2120781"/>
            <a:ext cx="7308272" cy="2677656"/>
          </a:xfrm>
          <a:prstGeom prst="rect">
            <a:avLst/>
          </a:prstGeom>
          <a:noFill/>
        </p:spPr>
        <p:txBody>
          <a:bodyPr wrap="square" rtlCol="0">
            <a:spAutoFit/>
          </a:bodyPr>
          <a:lstStyle/>
          <a:p>
            <a:r>
              <a:rPr lang="en-US" sz="2400" dirty="0" smtClean="0">
                <a:solidFill>
                  <a:schemeClr val="bg2">
                    <a:lumMod val="50000"/>
                  </a:schemeClr>
                </a:solidFill>
                <a:latin typeface="Helvetica" charset="0"/>
                <a:ea typeface="Helvetica" charset="0"/>
                <a:cs typeface="Helvetica" charset="0"/>
              </a:rPr>
              <a:t>Quick discussion: What was good about his presentation?</a:t>
            </a:r>
          </a:p>
          <a:p>
            <a:endParaRPr lang="en-US" sz="2400" dirty="0">
              <a:solidFill>
                <a:schemeClr val="bg2">
                  <a:lumMod val="50000"/>
                </a:schemeClr>
              </a:solidFill>
              <a:latin typeface="Helvetica" charset="0"/>
              <a:ea typeface="Helvetica" charset="0"/>
              <a:cs typeface="Helvetica" charset="0"/>
            </a:endParaRPr>
          </a:p>
          <a:p>
            <a:r>
              <a:rPr lang="en-US" sz="2400" dirty="0" smtClean="0">
                <a:solidFill>
                  <a:schemeClr val="bg2">
                    <a:lumMod val="50000"/>
                  </a:schemeClr>
                </a:solidFill>
                <a:latin typeface="Helvetica" charset="0"/>
                <a:ea typeface="Helvetica" charset="0"/>
                <a:cs typeface="Helvetica" charset="0"/>
              </a:rPr>
              <a:t>Slide design?</a:t>
            </a:r>
          </a:p>
          <a:p>
            <a:endParaRPr lang="en-US" sz="2400" dirty="0" smtClean="0">
              <a:solidFill>
                <a:schemeClr val="bg2">
                  <a:lumMod val="50000"/>
                </a:schemeClr>
              </a:solidFill>
              <a:latin typeface="Helvetica" charset="0"/>
              <a:ea typeface="Helvetica" charset="0"/>
              <a:cs typeface="Helvetica" charset="0"/>
            </a:endParaRPr>
          </a:p>
          <a:p>
            <a:r>
              <a:rPr lang="en-US" sz="2400" dirty="0" smtClean="0">
                <a:solidFill>
                  <a:schemeClr val="bg2">
                    <a:lumMod val="50000"/>
                  </a:schemeClr>
                </a:solidFill>
                <a:latin typeface="Helvetica" charset="0"/>
                <a:ea typeface="Helvetica" charset="0"/>
                <a:cs typeface="Helvetica" charset="0"/>
              </a:rPr>
              <a:t>Delivery?</a:t>
            </a:r>
          </a:p>
          <a:p>
            <a:r>
              <a:rPr lang="en-US" sz="2400" dirty="0" smtClean="0">
                <a:solidFill>
                  <a:schemeClr val="bg2">
                    <a:lumMod val="50000"/>
                  </a:schemeClr>
                </a:solidFill>
                <a:latin typeface="Helvetica" charset="0"/>
                <a:ea typeface="Helvetica" charset="0"/>
                <a:cs typeface="Helvetica" charset="0"/>
              </a:rPr>
              <a:t> </a:t>
            </a: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694210106"/>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Running the testing session	</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Testing can start </a:t>
            </a:r>
            <a:r>
              <a:rPr lang="en-US" dirty="0" smtClean="0">
                <a:solidFill>
                  <a:schemeClr val="bg2">
                    <a:lumMod val="50000"/>
                  </a:schemeClr>
                </a:solidFill>
                <a:latin typeface="Helvetica" charset="0"/>
                <a:ea typeface="Helvetica" charset="0"/>
                <a:cs typeface="Helvetica" charset="0"/>
              </a:rPr>
              <a:t>this coming Monday</a:t>
            </a:r>
            <a:r>
              <a:rPr lang="en-US" sz="2800" dirty="0" smtClean="0">
                <a:solidFill>
                  <a:schemeClr val="bg2">
                    <a:lumMod val="50000"/>
                  </a:schemeClr>
                </a:solidFill>
                <a:latin typeface="Helvetica" charset="0"/>
                <a:ea typeface="Helvetica" charset="0"/>
                <a:cs typeface="Helvetica" charset="0"/>
              </a:rPr>
              <a:t>!</a:t>
            </a:r>
          </a:p>
          <a:p>
            <a:pPr>
              <a:buFont typeface="Arial" charset="0"/>
              <a:buChar char="•"/>
            </a:pPr>
            <a:r>
              <a:rPr lang="en-US" sz="2800" dirty="0" smtClean="0">
                <a:solidFill>
                  <a:schemeClr val="bg2">
                    <a:lumMod val="50000"/>
                  </a:schemeClr>
                </a:solidFill>
                <a:latin typeface="Helvetica" charset="0"/>
                <a:ea typeface="Helvetica" charset="0"/>
                <a:cs typeface="Helvetica" charset="0"/>
              </a:rPr>
              <a:t>Data collection must finish by 5pm </a:t>
            </a:r>
            <a:r>
              <a:rPr lang="en-US" dirty="0" smtClean="0">
                <a:solidFill>
                  <a:schemeClr val="bg2">
                    <a:lumMod val="50000"/>
                  </a:schemeClr>
                </a:solidFill>
                <a:latin typeface="Helvetica" charset="0"/>
                <a:ea typeface="Helvetica" charset="0"/>
                <a:cs typeface="Helvetica" charset="0"/>
              </a:rPr>
              <a:t>Monday</a:t>
            </a:r>
            <a:r>
              <a:rPr lang="en-US" sz="2800" dirty="0" smtClean="0">
                <a:solidFill>
                  <a:schemeClr val="bg2">
                    <a:lumMod val="50000"/>
                  </a:schemeClr>
                </a:solidFill>
                <a:latin typeface="Helvetica" charset="0"/>
                <a:ea typeface="Helvetica" charset="0"/>
                <a:cs typeface="Helvetica" charset="0"/>
              </a:rPr>
              <a:t> 9/10</a:t>
            </a:r>
          </a:p>
          <a:p>
            <a:pPr>
              <a:buFont typeface="Arial" charset="0"/>
              <a:buChar char="•"/>
            </a:pPr>
            <a:r>
              <a:rPr lang="en-US" sz="2800" dirty="0" smtClean="0">
                <a:solidFill>
                  <a:schemeClr val="bg2">
                    <a:lumMod val="50000"/>
                  </a:schemeClr>
                </a:solidFill>
                <a:latin typeface="Helvetica" charset="0"/>
                <a:ea typeface="Helvetica" charset="0"/>
                <a:cs typeface="Helvetica" charset="0"/>
              </a:rPr>
              <a:t>Remember that the last week will get very busy – book in early!</a:t>
            </a:r>
          </a:p>
          <a:p>
            <a:pPr>
              <a:buFont typeface="Arial" charset="0"/>
              <a:buChar char="•"/>
            </a:pPr>
            <a:endParaRPr lang="en-US" dirty="0">
              <a:solidFill>
                <a:schemeClr val="bg2">
                  <a:lumMod val="50000"/>
                </a:schemeClr>
              </a:solidFill>
              <a:latin typeface="Helvetica" charset="0"/>
              <a:ea typeface="Helvetica" charset="0"/>
              <a:cs typeface="Helvetica" charset="0"/>
            </a:endParaRPr>
          </a:p>
          <a:p>
            <a:pPr>
              <a:buFont typeface="Arial" charset="0"/>
              <a:buChar char="•"/>
            </a:pPr>
            <a:r>
              <a:rPr lang="en-US" sz="2800" dirty="0" smtClean="0">
                <a:solidFill>
                  <a:schemeClr val="bg2">
                    <a:lumMod val="50000"/>
                  </a:schemeClr>
                </a:solidFill>
                <a:latin typeface="Helvetica" charset="0"/>
                <a:ea typeface="Helvetica" charset="0"/>
                <a:cs typeface="Helvetica" charset="0"/>
              </a:rPr>
              <a:t>Quick reminder</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Each of you will recruit 6 participants</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Age &gt;= 18</a:t>
            </a:r>
          </a:p>
          <a:p>
            <a:pPr lvl="1">
              <a:buFont typeface="Arial" charset="0"/>
              <a:buChar char="•"/>
            </a:pPr>
            <a:r>
              <a:rPr lang="en-US" dirty="0" smtClean="0">
                <a:solidFill>
                  <a:schemeClr val="bg2">
                    <a:lumMod val="50000"/>
                  </a:schemeClr>
                </a:solidFill>
                <a:latin typeface="Helvetica" charset="0"/>
                <a:ea typeface="Helvetica" charset="0"/>
                <a:cs typeface="Helvetica" charset="0"/>
              </a:rPr>
              <a:t>Lived in Caucasian-majority country for 5 years or more</a:t>
            </a:r>
          </a:p>
          <a:p>
            <a:pPr lvl="1">
              <a:buFont typeface="Arial" charset="0"/>
              <a:buChar char="•"/>
            </a:pPr>
            <a:r>
              <a:rPr lang="en-US" dirty="0" smtClean="0">
                <a:solidFill>
                  <a:schemeClr val="bg2">
                    <a:lumMod val="50000"/>
                  </a:schemeClr>
                </a:solidFill>
                <a:latin typeface="Helvetica" charset="0"/>
                <a:ea typeface="Helvetica" charset="0"/>
                <a:cs typeface="Helvetica" charset="0"/>
              </a:rPr>
              <a:t>Testing from 9am – </a:t>
            </a:r>
            <a:r>
              <a:rPr lang="en-US" smtClean="0">
                <a:solidFill>
                  <a:schemeClr val="bg2">
                    <a:lumMod val="50000"/>
                  </a:schemeClr>
                </a:solidFill>
                <a:latin typeface="Helvetica" charset="0"/>
                <a:ea typeface="Helvetica" charset="0"/>
                <a:cs typeface="Helvetica" charset="0"/>
              </a:rPr>
              <a:t>5pm only</a:t>
            </a:r>
            <a:endParaRPr lang="en-US" dirty="0" smtClean="0">
              <a:solidFill>
                <a:schemeClr val="bg2">
                  <a:lumMod val="50000"/>
                </a:schemeClr>
              </a:solidFill>
              <a:latin typeface="Helvetica" charset="0"/>
              <a:ea typeface="Helvetica" charset="0"/>
              <a:cs typeface="Helvetica" charset="0"/>
            </a:endParaRPr>
          </a:p>
          <a:p>
            <a:pPr lvl="1">
              <a:buFont typeface="Arial" charset="0"/>
              <a:buChar char="•"/>
            </a:pPr>
            <a:endParaRPr lang="en-US" sz="2400" dirty="0" smtClean="0">
              <a:solidFill>
                <a:schemeClr val="bg2">
                  <a:lumMod val="50000"/>
                </a:schemeClr>
              </a:solidFill>
              <a:latin typeface="Helvetica" charset="0"/>
              <a:ea typeface="Helvetica" charset="0"/>
              <a:cs typeface="Helvetica" charset="0"/>
            </a:endParaRPr>
          </a:p>
          <a:p>
            <a:pPr>
              <a:buFont typeface="Arial" charset="0"/>
              <a:buChar char="•"/>
            </a:pP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3616760977"/>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Scheduling	</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dirty="0" smtClean="0">
                <a:solidFill>
                  <a:schemeClr val="bg2">
                    <a:lumMod val="50000"/>
                  </a:schemeClr>
                </a:solidFill>
                <a:latin typeface="Helvetica" charset="0"/>
                <a:ea typeface="Helvetica" charset="0"/>
                <a:cs typeface="Helvetica" charset="0"/>
              </a:rPr>
              <a:t>2 rooms available for booking </a:t>
            </a:r>
          </a:p>
          <a:p>
            <a:pPr lvl="1">
              <a:buFont typeface="Arial" charset="0"/>
              <a:buChar char="•"/>
            </a:pPr>
            <a:r>
              <a:rPr lang="en-US" dirty="0" smtClean="0">
                <a:solidFill>
                  <a:schemeClr val="bg2">
                    <a:lumMod val="50000"/>
                  </a:schemeClr>
                </a:solidFill>
                <a:latin typeface="Helvetica" charset="0"/>
                <a:ea typeface="Helvetica" charset="0"/>
                <a:cs typeface="Helvetica" charset="0"/>
              </a:rPr>
              <a:t>Room 1 (Main Psych Building Rm 103)</a:t>
            </a:r>
          </a:p>
          <a:p>
            <a:pPr lvl="1">
              <a:buFont typeface="Arial" charset="0"/>
              <a:buChar char="•"/>
            </a:pPr>
            <a:r>
              <a:rPr lang="en-US" dirty="0" smtClean="0">
                <a:solidFill>
                  <a:schemeClr val="bg2">
                    <a:lumMod val="50000"/>
                  </a:schemeClr>
                </a:solidFill>
                <a:latin typeface="Helvetica" charset="0"/>
                <a:ea typeface="Helvetica" charset="0"/>
                <a:cs typeface="Helvetica" charset="0"/>
              </a:rPr>
              <a:t>Room 2 (Main Psych Building Rm 104)</a:t>
            </a:r>
          </a:p>
          <a:p>
            <a:pPr>
              <a:buFont typeface="Arial" charset="0"/>
              <a:buChar char="•"/>
            </a:pPr>
            <a:endParaRPr lang="en-US" dirty="0" smtClean="0">
              <a:solidFill>
                <a:schemeClr val="bg2">
                  <a:lumMod val="50000"/>
                </a:schemeClr>
              </a:solidFill>
              <a:latin typeface="Helvetica" charset="0"/>
              <a:ea typeface="Helvetica" charset="0"/>
              <a:cs typeface="Helvetica" charset="0"/>
            </a:endParaRPr>
          </a:p>
          <a:p>
            <a:pPr>
              <a:buFont typeface="Arial" charset="0"/>
              <a:buChar char="•"/>
            </a:pPr>
            <a:r>
              <a:rPr lang="en-US" dirty="0" smtClean="0">
                <a:solidFill>
                  <a:schemeClr val="bg2">
                    <a:lumMod val="50000"/>
                  </a:schemeClr>
                </a:solidFill>
                <a:latin typeface="Helvetica" charset="0"/>
                <a:ea typeface="Helvetica" charset="0"/>
                <a:cs typeface="Helvetica" charset="0"/>
              </a:rPr>
              <a:t>Room </a:t>
            </a:r>
            <a:r>
              <a:rPr lang="en-US" dirty="0">
                <a:solidFill>
                  <a:schemeClr val="bg2">
                    <a:lumMod val="50000"/>
                  </a:schemeClr>
                </a:solidFill>
                <a:latin typeface="Helvetica" charset="0"/>
                <a:ea typeface="Helvetica" charset="0"/>
                <a:cs typeface="Helvetica" charset="0"/>
              </a:rPr>
              <a:t>booking is done using Google calendar (https://</a:t>
            </a:r>
            <a:r>
              <a:rPr lang="en-US" dirty="0" err="1">
                <a:solidFill>
                  <a:schemeClr val="bg2">
                    <a:lumMod val="50000"/>
                  </a:schemeClr>
                </a:solidFill>
                <a:latin typeface="Helvetica" charset="0"/>
                <a:ea typeface="Helvetica" charset="0"/>
                <a:cs typeface="Helvetica" charset="0"/>
              </a:rPr>
              <a:t>www.google.com</a:t>
            </a:r>
            <a:r>
              <a:rPr lang="en-US" dirty="0">
                <a:solidFill>
                  <a:schemeClr val="bg2">
                    <a:lumMod val="50000"/>
                  </a:schemeClr>
                </a:solidFill>
                <a:latin typeface="Helvetica" charset="0"/>
                <a:ea typeface="Helvetica" charset="0"/>
                <a:cs typeface="Helvetica" charset="0"/>
              </a:rPr>
              <a:t>/calendar)</a:t>
            </a:r>
          </a:p>
          <a:p>
            <a:pPr lvl="1">
              <a:buFont typeface="Arial" charset="0"/>
              <a:buChar char="•"/>
            </a:pPr>
            <a:r>
              <a:rPr lang="en-US" dirty="0">
                <a:solidFill>
                  <a:schemeClr val="bg2">
                    <a:lumMod val="50000"/>
                  </a:schemeClr>
                </a:solidFill>
                <a:latin typeface="Helvetica" charset="0"/>
                <a:ea typeface="Helvetica" charset="0"/>
                <a:cs typeface="Helvetica" charset="0"/>
              </a:rPr>
              <a:t>Account</a:t>
            </a:r>
            <a:r>
              <a:rPr lang="en-US" dirty="0" smtClean="0">
                <a:solidFill>
                  <a:schemeClr val="bg2">
                    <a:lumMod val="50000"/>
                  </a:schemeClr>
                </a:solidFill>
                <a:latin typeface="Helvetica" charset="0"/>
                <a:ea typeface="Helvetica" charset="0"/>
                <a:cs typeface="Helvetica" charset="0"/>
              </a:rPr>
              <a:t>: 3310emosci@gmail.com</a:t>
            </a:r>
            <a:endParaRPr lang="en-US" dirty="0">
              <a:solidFill>
                <a:schemeClr val="bg2">
                  <a:lumMod val="50000"/>
                </a:schemeClr>
              </a:solidFill>
              <a:latin typeface="Helvetica" charset="0"/>
              <a:ea typeface="Helvetica" charset="0"/>
              <a:cs typeface="Helvetica" charset="0"/>
            </a:endParaRPr>
          </a:p>
          <a:p>
            <a:pPr lvl="1">
              <a:buFont typeface="Arial" charset="0"/>
              <a:buChar char="•"/>
            </a:pPr>
            <a:r>
              <a:rPr lang="en-US" dirty="0">
                <a:solidFill>
                  <a:schemeClr val="bg2">
                    <a:lumMod val="50000"/>
                  </a:schemeClr>
                </a:solidFill>
                <a:latin typeface="Helvetica" charset="0"/>
                <a:ea typeface="Helvetica" charset="0"/>
                <a:cs typeface="Helvetica" charset="0"/>
              </a:rPr>
              <a:t>Password</a:t>
            </a:r>
            <a:r>
              <a:rPr lang="en-US" dirty="0" smtClean="0">
                <a:solidFill>
                  <a:schemeClr val="bg2">
                    <a:lumMod val="50000"/>
                  </a:schemeClr>
                </a:solidFill>
                <a:latin typeface="Helvetica" charset="0"/>
                <a:ea typeface="Helvetica" charset="0"/>
                <a:cs typeface="Helvetica" charset="0"/>
              </a:rPr>
              <a:t>: 33102017</a:t>
            </a:r>
            <a:endParaRPr lang="en-US" dirty="0">
              <a:solidFill>
                <a:schemeClr val="bg2">
                  <a:lumMod val="50000"/>
                </a:schemeClr>
              </a:solidFill>
              <a:latin typeface="Helvetica" charset="0"/>
              <a:ea typeface="Helvetica" charset="0"/>
              <a:cs typeface="Helvetica" charset="0"/>
            </a:endParaRPr>
          </a:p>
          <a:p>
            <a:pPr>
              <a:buFont typeface="Arial" charset="0"/>
              <a:buChar char="•"/>
            </a:pP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1595289302"/>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Starting the session</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Each session = ~40 minutes</a:t>
            </a:r>
          </a:p>
          <a:p>
            <a:pPr>
              <a:buFont typeface="Arial" charset="0"/>
              <a:buChar char="•"/>
            </a:pPr>
            <a:r>
              <a:rPr lang="en-US" dirty="0">
                <a:solidFill>
                  <a:schemeClr val="bg2">
                    <a:lumMod val="50000"/>
                  </a:schemeClr>
                </a:solidFill>
                <a:latin typeface="Helvetica" charset="0"/>
                <a:ea typeface="Helvetica" charset="0"/>
                <a:cs typeface="Helvetica" charset="0"/>
              </a:rPr>
              <a:t>E</a:t>
            </a:r>
            <a:r>
              <a:rPr lang="en-US" sz="2800" dirty="0" smtClean="0">
                <a:solidFill>
                  <a:schemeClr val="bg2">
                    <a:lumMod val="50000"/>
                  </a:schemeClr>
                </a:solidFill>
                <a:latin typeface="Helvetica" charset="0"/>
                <a:ea typeface="Helvetica" charset="0"/>
                <a:cs typeface="Helvetica" charset="0"/>
              </a:rPr>
              <a:t>ach slot starts on the hour – so stay on time!</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If your participant is more than ten min late, you will need to re-book.</a:t>
            </a:r>
          </a:p>
          <a:p>
            <a:pPr>
              <a:buFont typeface="Arial" charset="0"/>
              <a:buChar char="•"/>
            </a:pPr>
            <a:r>
              <a:rPr lang="en-US" sz="2800" dirty="0" smtClean="0">
                <a:solidFill>
                  <a:schemeClr val="bg2">
                    <a:lumMod val="50000"/>
                  </a:schemeClr>
                </a:solidFill>
                <a:latin typeface="Helvetica" charset="0"/>
                <a:ea typeface="Helvetica" charset="0"/>
                <a:cs typeface="Helvetica" charset="0"/>
              </a:rPr>
              <a:t>Get participants to arrive 10 min early where possible to do info &amp; consent forms</a:t>
            </a:r>
          </a:p>
          <a:p>
            <a:pPr lvl="1">
              <a:buFont typeface="Arial" charset="0"/>
              <a:buChar char="•"/>
            </a:pPr>
            <a:r>
              <a:rPr lang="en-US" sz="2600" dirty="0" smtClean="0">
                <a:solidFill>
                  <a:schemeClr val="bg2">
                    <a:lumMod val="50000"/>
                  </a:schemeClr>
                </a:solidFill>
                <a:latin typeface="Helvetica" charset="0"/>
                <a:ea typeface="Helvetica" charset="0"/>
                <a:cs typeface="Helvetica" charset="0"/>
              </a:rPr>
              <a:t>Store them securely (designated box in testing room)</a:t>
            </a:r>
          </a:p>
          <a:p>
            <a:pPr>
              <a:buFont typeface="Arial" charset="0"/>
              <a:buChar char="•"/>
            </a:pP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8836921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Running the session</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Follow testing procedure on LMS (and copies in testing room)</a:t>
            </a:r>
          </a:p>
          <a:p>
            <a:pPr>
              <a:buFont typeface="Arial" charset="0"/>
              <a:buChar char="•"/>
            </a:pPr>
            <a:r>
              <a:rPr lang="en-US" sz="2600" dirty="0" smtClean="0">
                <a:solidFill>
                  <a:schemeClr val="bg2">
                    <a:lumMod val="50000"/>
                  </a:schemeClr>
                </a:solidFill>
                <a:latin typeface="Helvetica" charset="0"/>
                <a:ea typeface="Helvetica" charset="0"/>
                <a:cs typeface="Helvetica" charset="0"/>
              </a:rPr>
              <a:t>Computer setup:</a:t>
            </a:r>
          </a:p>
          <a:p>
            <a:pPr lvl="1">
              <a:buFont typeface="Arial" charset="0"/>
              <a:buChar char="•"/>
            </a:pPr>
            <a:r>
              <a:rPr lang="en-US" dirty="0" smtClean="0">
                <a:solidFill>
                  <a:schemeClr val="bg2">
                    <a:lumMod val="50000"/>
                  </a:schemeClr>
                </a:solidFill>
                <a:latin typeface="Helvetica" charset="0"/>
                <a:ea typeface="Helvetica" charset="0"/>
                <a:cs typeface="Helvetica" charset="0"/>
              </a:rPr>
              <a:t>Website for your study: </a:t>
            </a:r>
            <a:r>
              <a:rPr lang="en-US" dirty="0" smtClean="0">
                <a:solidFill>
                  <a:schemeClr val="bg2">
                    <a:lumMod val="50000"/>
                  </a:schemeClr>
                </a:solidFill>
                <a:latin typeface="Helvetica" charset="0"/>
                <a:ea typeface="Helvetica" charset="0"/>
                <a:cs typeface="Helvetica" charset="0"/>
                <a:hlinkClick r:id="rId2"/>
              </a:rPr>
              <a:t>http://uwa.qualtrics.com/jfe/form/SV_06O18XgxjwkwQKx</a:t>
            </a:r>
            <a:endParaRPr lang="en-US" dirty="0" smtClean="0">
              <a:solidFill>
                <a:schemeClr val="bg2">
                  <a:lumMod val="50000"/>
                </a:schemeClr>
              </a:solidFill>
              <a:latin typeface="Helvetica" charset="0"/>
              <a:ea typeface="Helvetica" charset="0"/>
              <a:cs typeface="Helvetica" charset="0"/>
            </a:endParaRPr>
          </a:p>
          <a:p>
            <a:pPr lvl="1">
              <a:buFont typeface="Arial" charset="0"/>
              <a:buChar char="•"/>
            </a:pPr>
            <a:r>
              <a:rPr lang="en-US" dirty="0" smtClean="0">
                <a:solidFill>
                  <a:schemeClr val="bg2">
                    <a:lumMod val="50000"/>
                  </a:schemeClr>
                </a:solidFill>
                <a:latin typeface="Helvetica" charset="0"/>
                <a:ea typeface="Helvetica" charset="0"/>
                <a:cs typeface="Helvetica" charset="0"/>
              </a:rPr>
              <a:t>All instructions and randomization have been programmed and automated </a:t>
            </a:r>
            <a:r>
              <a:rPr lang="en-US" dirty="0" smtClean="0">
                <a:solidFill>
                  <a:schemeClr val="bg2">
                    <a:lumMod val="50000"/>
                  </a:schemeClr>
                </a:solidFill>
                <a:latin typeface="Helvetica" charset="0"/>
                <a:ea typeface="Helvetica" charset="0"/>
                <a:cs typeface="Helvetica" charset="0"/>
                <a:sym typeface="Wingdings"/>
              </a:rPr>
              <a:t>. You just need to launch the study using the </a:t>
            </a:r>
            <a:r>
              <a:rPr lang="en-US" dirty="0" err="1" smtClean="0">
                <a:solidFill>
                  <a:schemeClr val="bg2">
                    <a:lumMod val="50000"/>
                  </a:schemeClr>
                </a:solidFill>
                <a:latin typeface="Helvetica" charset="0"/>
                <a:ea typeface="Helvetica" charset="0"/>
                <a:cs typeface="Helvetica" charset="0"/>
                <a:sym typeface="Wingdings"/>
              </a:rPr>
              <a:t>url</a:t>
            </a:r>
            <a:r>
              <a:rPr lang="en-US" dirty="0" smtClean="0">
                <a:solidFill>
                  <a:schemeClr val="bg2">
                    <a:lumMod val="50000"/>
                  </a:schemeClr>
                </a:solidFill>
                <a:latin typeface="Helvetica" charset="0"/>
                <a:ea typeface="Helvetica" charset="0"/>
                <a:cs typeface="Helvetica" charset="0"/>
                <a:sym typeface="Wingdings"/>
              </a:rPr>
              <a:t> bookmark in Safari</a:t>
            </a:r>
            <a:endParaRPr lang="en-US" dirty="0" smtClean="0">
              <a:solidFill>
                <a:schemeClr val="bg2">
                  <a:lumMod val="50000"/>
                </a:schemeClr>
              </a:solidFill>
              <a:latin typeface="Helvetica" charset="0"/>
              <a:ea typeface="Helvetica" charset="0"/>
              <a:cs typeface="Helvetica" charset="0"/>
            </a:endParaRPr>
          </a:p>
          <a:p>
            <a:pPr lvl="1">
              <a:buFont typeface="Arial" charset="0"/>
              <a:buChar char="•"/>
            </a:pPr>
            <a:r>
              <a:rPr lang="en-US" sz="2400" dirty="0" smtClean="0">
                <a:solidFill>
                  <a:schemeClr val="bg2">
                    <a:lumMod val="50000"/>
                  </a:schemeClr>
                </a:solidFill>
                <a:latin typeface="Helvetica" charset="0"/>
                <a:ea typeface="Helvetica" charset="0"/>
                <a:cs typeface="Helvetica" charset="0"/>
              </a:rPr>
              <a:t>Brightness turned up to full</a:t>
            </a:r>
          </a:p>
          <a:p>
            <a:pPr lvl="1">
              <a:buFont typeface="Arial" charset="0"/>
              <a:buChar char="•"/>
            </a:pPr>
            <a:r>
              <a:rPr lang="en-US" sz="2400" dirty="0" smtClean="0">
                <a:solidFill>
                  <a:schemeClr val="bg2">
                    <a:lumMod val="50000"/>
                  </a:schemeClr>
                </a:solidFill>
                <a:latin typeface="Helvetica" charset="0"/>
                <a:ea typeface="Helvetica" charset="0"/>
                <a:cs typeface="Helvetica" charset="0"/>
              </a:rPr>
              <a:t>Webpage is maximized</a:t>
            </a:r>
            <a:r>
              <a:rPr lang="en-US" dirty="0" smtClean="0">
                <a:solidFill>
                  <a:schemeClr val="bg2">
                    <a:lumMod val="50000"/>
                  </a:schemeClr>
                </a:solidFill>
                <a:latin typeface="Helvetica" charset="0"/>
                <a:ea typeface="Helvetica" charset="0"/>
                <a:cs typeface="Helvetica" charset="0"/>
              </a:rPr>
              <a:t> to </a:t>
            </a:r>
            <a:r>
              <a:rPr lang="en-US" dirty="0" err="1" smtClean="0">
                <a:solidFill>
                  <a:schemeClr val="bg2">
                    <a:lumMod val="50000"/>
                  </a:schemeClr>
                </a:solidFill>
                <a:latin typeface="Helvetica" charset="0"/>
                <a:ea typeface="Helvetica" charset="0"/>
                <a:cs typeface="Helvetica" charset="0"/>
              </a:rPr>
              <a:t>fullscreen</a:t>
            </a: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19094208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Participant sheet</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400" dirty="0" smtClean="0">
                <a:solidFill>
                  <a:schemeClr val="bg2">
                    <a:lumMod val="50000"/>
                  </a:schemeClr>
                </a:solidFill>
                <a:latin typeface="Helvetica" charset="0"/>
                <a:ea typeface="Helvetica" charset="0"/>
                <a:cs typeface="Helvetica" charset="0"/>
              </a:rPr>
              <a:t>A participant sheet is provided in each testing room</a:t>
            </a:r>
          </a:p>
          <a:p>
            <a:pPr>
              <a:buFont typeface="Arial" charset="0"/>
              <a:buChar char="•"/>
            </a:pPr>
            <a:r>
              <a:rPr lang="en-US" sz="2400" dirty="0" smtClean="0">
                <a:solidFill>
                  <a:schemeClr val="bg2">
                    <a:lumMod val="50000"/>
                  </a:schemeClr>
                </a:solidFill>
                <a:latin typeface="Helvetica" charset="0"/>
                <a:ea typeface="Helvetica" charset="0"/>
                <a:cs typeface="Helvetica" charset="0"/>
              </a:rPr>
              <a:t>Please fill in the date, time, and your name in the sheet</a:t>
            </a:r>
          </a:p>
          <a:p>
            <a:pPr>
              <a:buFont typeface="Arial" charset="0"/>
              <a:buChar char="•"/>
            </a:pPr>
            <a:r>
              <a:rPr lang="en-US" sz="2400" dirty="0" smtClean="0">
                <a:solidFill>
                  <a:schemeClr val="bg2">
                    <a:lumMod val="50000"/>
                  </a:schemeClr>
                </a:solidFill>
                <a:latin typeface="Helvetica" charset="0"/>
                <a:ea typeface="Helvetica" charset="0"/>
                <a:cs typeface="Helvetica" charset="0"/>
              </a:rPr>
              <a:t>There is a “Remarks” column for you to note down any observations about the participant or problems (Recall last week’s lab!). </a:t>
            </a:r>
          </a:p>
          <a:p>
            <a:pPr>
              <a:buFont typeface="Arial" charset="0"/>
              <a:buChar char="•"/>
            </a:pPr>
            <a:r>
              <a:rPr lang="en-US" sz="2400" dirty="0" smtClean="0">
                <a:solidFill>
                  <a:schemeClr val="bg2">
                    <a:lumMod val="50000"/>
                  </a:schemeClr>
                </a:solidFill>
                <a:latin typeface="Helvetica" charset="0"/>
                <a:ea typeface="Helvetica" charset="0"/>
                <a:cs typeface="Helvetica" charset="0"/>
              </a:rPr>
              <a:t>A unique participant code is also provided for each entry, the testing program will prompt you to enter the code before the start of the study. This is so that we can match the details on the sheet to the data collected by the program. </a:t>
            </a:r>
            <a:endParaRPr lang="en-US" sz="24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627349605"/>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The tasks</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AU" sz="2800" dirty="0" smtClean="0">
                <a:solidFill>
                  <a:schemeClr val="bg2">
                    <a:lumMod val="50000"/>
                  </a:schemeClr>
                </a:solidFill>
                <a:latin typeface="Helvetica" charset="0"/>
                <a:ea typeface="Helvetica" charset="0"/>
                <a:cs typeface="Helvetica" charset="0"/>
              </a:rPr>
              <a:t>Face tasks </a:t>
            </a:r>
          </a:p>
          <a:p>
            <a:pPr lvl="1">
              <a:buFont typeface="Arial" charset="0"/>
              <a:buChar char="•"/>
            </a:pPr>
            <a:r>
              <a:rPr lang="en-AU" sz="2400" dirty="0" smtClean="0">
                <a:solidFill>
                  <a:schemeClr val="bg2">
                    <a:lumMod val="50000"/>
                  </a:schemeClr>
                </a:solidFill>
                <a:latin typeface="Helvetica" charset="0"/>
                <a:ea typeface="Helvetica" charset="0"/>
                <a:cs typeface="Helvetica" charset="0"/>
              </a:rPr>
              <a:t>Rating resemblance to anger in neutral male faces </a:t>
            </a:r>
          </a:p>
          <a:p>
            <a:pPr lvl="1">
              <a:buFont typeface="Arial" charset="0"/>
              <a:buChar char="•"/>
            </a:pPr>
            <a:r>
              <a:rPr lang="en-AU" dirty="0" smtClean="0">
                <a:solidFill>
                  <a:schemeClr val="bg2">
                    <a:lumMod val="50000"/>
                  </a:schemeClr>
                </a:solidFill>
                <a:latin typeface="Helvetica" charset="0"/>
                <a:ea typeface="Helvetica" charset="0"/>
                <a:cs typeface="Helvetica" charset="0"/>
              </a:rPr>
              <a:t>Rating perceived strength in male faces that vary in expressions </a:t>
            </a:r>
          </a:p>
          <a:p>
            <a:pPr lvl="1">
              <a:buFont typeface="Arial" charset="0"/>
              <a:buChar char="•"/>
            </a:pPr>
            <a:r>
              <a:rPr lang="en-AU" dirty="0" smtClean="0">
                <a:solidFill>
                  <a:schemeClr val="bg2">
                    <a:lumMod val="50000"/>
                  </a:schemeClr>
                </a:solidFill>
                <a:latin typeface="Helvetica" charset="0"/>
                <a:ea typeface="Helvetica" charset="0"/>
                <a:cs typeface="Helvetica" charset="0"/>
              </a:rPr>
              <a:t>Rating perceived strength in female faces that vary in expressions </a:t>
            </a:r>
          </a:p>
          <a:p>
            <a:pPr>
              <a:buFont typeface="Arial" charset="0"/>
              <a:buChar char="•"/>
            </a:pPr>
            <a:endParaRPr lang="en-AU" dirty="0">
              <a:solidFill>
                <a:schemeClr val="bg2">
                  <a:lumMod val="50000"/>
                </a:schemeClr>
              </a:solidFill>
              <a:latin typeface="Helvetica" charset="0"/>
              <a:ea typeface="Helvetica" charset="0"/>
              <a:cs typeface="Helvetica" charset="0"/>
            </a:endParaRPr>
          </a:p>
          <a:p>
            <a:pPr>
              <a:buFont typeface="Arial" charset="0"/>
              <a:buChar char="•"/>
            </a:pPr>
            <a:r>
              <a:rPr lang="en-AU" sz="2800" dirty="0" smtClean="0">
                <a:solidFill>
                  <a:schemeClr val="bg2">
                    <a:lumMod val="50000"/>
                  </a:schemeClr>
                </a:solidFill>
                <a:latin typeface="Helvetica" charset="0"/>
                <a:ea typeface="Helvetica" charset="0"/>
                <a:cs typeface="Helvetica" charset="0"/>
              </a:rPr>
              <a:t>Demographic questionnaire</a:t>
            </a:r>
          </a:p>
          <a:p>
            <a:pPr lvl="1">
              <a:buFont typeface="Arial" charset="0"/>
              <a:buChar char="•"/>
            </a:pPr>
            <a:endParaRPr lang="en-AU" sz="2400" dirty="0" smtClean="0">
              <a:solidFill>
                <a:schemeClr val="bg2">
                  <a:lumMod val="50000"/>
                </a:schemeClr>
              </a:solidFill>
              <a:latin typeface="Helvetica" charset="0"/>
              <a:ea typeface="Helvetica" charset="0"/>
              <a:cs typeface="Helvetica" charset="0"/>
            </a:endParaRPr>
          </a:p>
          <a:p>
            <a:pPr lvl="1">
              <a:buFont typeface="Arial" charset="0"/>
              <a:buChar char="•"/>
            </a:pPr>
            <a:endParaRPr lang="en-AU" sz="2400" dirty="0" smtClean="0">
              <a:solidFill>
                <a:schemeClr val="bg2">
                  <a:lumMod val="50000"/>
                </a:schemeClr>
              </a:solidFill>
              <a:latin typeface="Helvetica" charset="0"/>
              <a:ea typeface="Helvetica" charset="0"/>
              <a:cs typeface="Helvetica" charset="0"/>
            </a:endParaRPr>
          </a:p>
          <a:p>
            <a:pPr>
              <a:buFont typeface="Arial" charset="0"/>
              <a:buChar char="•"/>
            </a:pPr>
            <a:endParaRPr lang="en-AU"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2272072744"/>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What to say while testing</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US" sz="2800" dirty="0" smtClean="0">
                <a:solidFill>
                  <a:schemeClr val="bg2">
                    <a:lumMod val="50000"/>
                  </a:schemeClr>
                </a:solidFill>
                <a:latin typeface="Helvetica" charset="0"/>
                <a:ea typeface="Helvetica" charset="0"/>
                <a:cs typeface="Helvetica" charset="0"/>
              </a:rPr>
              <a:t>The testing procedure should be kept consistent</a:t>
            </a:r>
            <a:endParaRPr lang="en-AU" sz="2800" dirty="0" smtClean="0">
              <a:solidFill>
                <a:schemeClr val="bg2">
                  <a:lumMod val="50000"/>
                </a:schemeClr>
              </a:solidFill>
              <a:latin typeface="Helvetica" charset="0"/>
              <a:ea typeface="Helvetica" charset="0"/>
              <a:cs typeface="Helvetica" charset="0"/>
            </a:endParaRPr>
          </a:p>
          <a:p>
            <a:pPr>
              <a:buFont typeface="Arial" charset="0"/>
              <a:buChar char="•"/>
            </a:pPr>
            <a:r>
              <a:rPr lang="en-AU" sz="2800" dirty="0" smtClean="0">
                <a:solidFill>
                  <a:schemeClr val="bg2">
                    <a:lumMod val="50000"/>
                  </a:schemeClr>
                </a:solidFill>
                <a:latin typeface="Helvetica" charset="0"/>
                <a:ea typeface="Helvetica" charset="0"/>
                <a:cs typeface="Helvetica" charset="0"/>
              </a:rPr>
              <a:t>Follow the script (on LMS and in testing room) to make sure you have covered all information</a:t>
            </a:r>
          </a:p>
          <a:p>
            <a:pPr>
              <a:buFont typeface="Arial" charset="0"/>
              <a:buChar char="•"/>
            </a:pPr>
            <a:r>
              <a:rPr lang="en-AU" sz="2800" dirty="0" smtClean="0">
                <a:solidFill>
                  <a:schemeClr val="bg2">
                    <a:lumMod val="50000"/>
                  </a:schemeClr>
                </a:solidFill>
                <a:latin typeface="Helvetica" charset="0"/>
                <a:ea typeface="Helvetica" charset="0"/>
                <a:cs typeface="Helvetica" charset="0"/>
              </a:rPr>
              <a:t>Don’t tell participants too much! Can affect their results if they know what you are looking for beforehand.</a:t>
            </a:r>
            <a:endParaRPr lang="en-US" sz="22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245336867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Debrief</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AU" sz="2800" dirty="0" smtClean="0">
                <a:solidFill>
                  <a:schemeClr val="bg2">
                    <a:lumMod val="50000"/>
                  </a:schemeClr>
                </a:solidFill>
              </a:rPr>
              <a:t>Give participants short verbal run-down and answer questions</a:t>
            </a:r>
          </a:p>
          <a:p>
            <a:pPr>
              <a:buFont typeface="Arial" charset="0"/>
              <a:buChar char="•"/>
            </a:pPr>
            <a:r>
              <a:rPr lang="en-AU" sz="2800" dirty="0" smtClean="0">
                <a:solidFill>
                  <a:schemeClr val="bg2">
                    <a:lumMod val="50000"/>
                  </a:schemeClr>
                </a:solidFill>
              </a:rPr>
              <a:t>Debrief outside the testing room!</a:t>
            </a:r>
          </a:p>
          <a:p>
            <a:pPr>
              <a:buFont typeface="Arial" charset="0"/>
              <a:buChar char="•"/>
            </a:pPr>
            <a:r>
              <a:rPr lang="en-AU" dirty="0" smtClean="0">
                <a:solidFill>
                  <a:schemeClr val="bg2">
                    <a:lumMod val="50000"/>
                  </a:schemeClr>
                </a:solidFill>
              </a:rPr>
              <a:t>Remind participant not to reveal details to other potential participants!</a:t>
            </a:r>
            <a:endParaRPr lang="en-AU" sz="2800" dirty="0" smtClean="0">
              <a:solidFill>
                <a:schemeClr val="bg2">
                  <a:lumMod val="50000"/>
                </a:schemeClr>
              </a:solidFill>
            </a:endParaRPr>
          </a:p>
        </p:txBody>
      </p:sp>
    </p:spTree>
    <p:extLst>
      <p:ext uri="{BB962C8B-B14F-4D97-AF65-F5344CB8AC3E}">
        <p14:creationId xmlns:p14="http://schemas.microsoft.com/office/powerpoint/2010/main" val="126003875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bg2">
                    <a:lumMod val="50000"/>
                  </a:schemeClr>
                </a:solidFill>
                <a:latin typeface="Helvetica" charset="0"/>
                <a:ea typeface="Helvetica" charset="0"/>
                <a:cs typeface="Helvetica" charset="0"/>
              </a:rPr>
              <a:t>Testing Location</a:t>
            </a:r>
            <a:endParaRPr lang="en-US" b="1" dirty="0">
              <a:solidFill>
                <a:schemeClr val="bg2">
                  <a:lumMod val="50000"/>
                </a:schemeClr>
              </a:solidFill>
              <a:latin typeface="Helvetica" charset="0"/>
              <a:ea typeface="Helvetica" charset="0"/>
              <a:cs typeface="Helvetica" charset="0"/>
            </a:endParaRPr>
          </a:p>
        </p:txBody>
      </p:sp>
      <p:sp>
        <p:nvSpPr>
          <p:cNvPr id="3" name="Content Placeholder 2"/>
          <p:cNvSpPr>
            <a:spLocks noGrp="1"/>
          </p:cNvSpPr>
          <p:nvPr>
            <p:ph idx="1"/>
          </p:nvPr>
        </p:nvSpPr>
        <p:spPr/>
        <p:txBody>
          <a:bodyPr>
            <a:normAutofit/>
          </a:bodyPr>
          <a:lstStyle/>
          <a:p>
            <a:pPr>
              <a:buFont typeface="Arial" charset="0"/>
              <a:buChar char="•"/>
            </a:pPr>
            <a:r>
              <a:rPr lang="en-AU" sz="2400" dirty="0" smtClean="0">
                <a:solidFill>
                  <a:schemeClr val="bg2">
                    <a:lumMod val="50000"/>
                  </a:schemeClr>
                </a:solidFill>
                <a:latin typeface="Helvetica" charset="0"/>
                <a:ea typeface="Helvetica" charset="0"/>
                <a:cs typeface="Helvetica" charset="0"/>
              </a:rPr>
              <a:t>Recommend meeting participants at reception/first floor stairwell!</a:t>
            </a:r>
          </a:p>
          <a:p>
            <a:pPr>
              <a:buFont typeface="Arial" charset="0"/>
              <a:buChar char="•"/>
            </a:pPr>
            <a:r>
              <a:rPr lang="en-AU" sz="2400" dirty="0" err="1" smtClean="0">
                <a:solidFill>
                  <a:schemeClr val="bg2">
                    <a:lumMod val="50000"/>
                  </a:schemeClr>
                </a:solidFill>
                <a:latin typeface="Helvetica" charset="0"/>
                <a:ea typeface="Helvetica" charset="0"/>
                <a:cs typeface="Helvetica" charset="0"/>
              </a:rPr>
              <a:t>FaceLab</a:t>
            </a:r>
            <a:r>
              <a:rPr lang="en-AU" sz="2400" dirty="0" smtClean="0">
                <a:solidFill>
                  <a:schemeClr val="bg2">
                    <a:lumMod val="50000"/>
                  </a:schemeClr>
                </a:solidFill>
                <a:latin typeface="Helvetica" charset="0"/>
                <a:ea typeface="Helvetica" charset="0"/>
                <a:cs typeface="Helvetica" charset="0"/>
              </a:rPr>
              <a:t> </a:t>
            </a:r>
            <a:r>
              <a:rPr lang="en-AU" sz="2400" dirty="0" smtClean="0">
                <a:solidFill>
                  <a:schemeClr val="bg2">
                    <a:lumMod val="50000"/>
                  </a:schemeClr>
                </a:solidFill>
                <a:latin typeface="Helvetica" charset="0"/>
                <a:ea typeface="Helvetica" charset="0"/>
                <a:cs typeface="Helvetica" charset="0"/>
              </a:rPr>
              <a:t>is generally open, but you may need a key </a:t>
            </a:r>
            <a:r>
              <a:rPr lang="en-US" sz="2400" dirty="0" smtClean="0">
                <a:solidFill>
                  <a:schemeClr val="bg2">
                    <a:lumMod val="50000"/>
                  </a:schemeClr>
                </a:solidFill>
                <a:latin typeface="Helvetica" charset="0"/>
                <a:ea typeface="Helvetica" charset="0"/>
                <a:cs typeface="Helvetica" charset="0"/>
              </a:rPr>
              <a:t>–</a:t>
            </a:r>
            <a:r>
              <a:rPr lang="en-AU" sz="2400" dirty="0" smtClean="0">
                <a:solidFill>
                  <a:schemeClr val="bg2">
                    <a:lumMod val="50000"/>
                  </a:schemeClr>
                </a:solidFill>
                <a:latin typeface="Helvetica" charset="0"/>
                <a:ea typeface="Helvetica" charset="0"/>
                <a:cs typeface="Helvetica" charset="0"/>
              </a:rPr>
              <a:t> can borrow one from P</a:t>
            </a:r>
            <a:r>
              <a:rPr lang="en-US" sz="2400" dirty="0" smtClean="0">
                <a:solidFill>
                  <a:schemeClr val="bg2">
                    <a:lumMod val="50000"/>
                  </a:schemeClr>
                </a:solidFill>
                <a:latin typeface="Helvetica" charset="0"/>
                <a:ea typeface="Helvetica" charset="0"/>
                <a:cs typeface="Helvetica" charset="0"/>
              </a:rPr>
              <a:t>s</a:t>
            </a:r>
            <a:r>
              <a:rPr lang="en-AU" sz="2400" dirty="0" err="1" smtClean="0">
                <a:solidFill>
                  <a:schemeClr val="bg2">
                    <a:lumMod val="50000"/>
                  </a:schemeClr>
                </a:solidFill>
                <a:latin typeface="Helvetica" charset="0"/>
                <a:ea typeface="Helvetica" charset="0"/>
                <a:cs typeface="Helvetica" charset="0"/>
              </a:rPr>
              <a:t>ych</a:t>
            </a:r>
            <a:r>
              <a:rPr lang="en-AU" sz="2400" dirty="0" smtClean="0">
                <a:solidFill>
                  <a:schemeClr val="bg2">
                    <a:lumMod val="50000"/>
                  </a:schemeClr>
                </a:solidFill>
                <a:latin typeface="Helvetica" charset="0"/>
                <a:ea typeface="Helvetica" charset="0"/>
                <a:cs typeface="Helvetica" charset="0"/>
              </a:rPr>
              <a:t> reception</a:t>
            </a:r>
          </a:p>
          <a:p>
            <a:pPr lvl="1">
              <a:buFont typeface="Arial" charset="0"/>
              <a:buChar char="•"/>
            </a:pPr>
            <a:r>
              <a:rPr lang="en-AU" sz="2000" dirty="0" smtClean="0">
                <a:solidFill>
                  <a:schemeClr val="bg2">
                    <a:lumMod val="50000"/>
                  </a:schemeClr>
                </a:solidFill>
                <a:latin typeface="Helvetica" charset="0"/>
                <a:ea typeface="Helvetica" charset="0"/>
                <a:cs typeface="Helvetica" charset="0"/>
              </a:rPr>
              <a:t>Remember this is a working lab/office! Take care of the equipment and don’t leave the room open and unattended</a:t>
            </a:r>
          </a:p>
          <a:p>
            <a:pPr lvl="1">
              <a:buFont typeface="Arial" charset="0"/>
              <a:buChar char="•"/>
            </a:pPr>
            <a:r>
              <a:rPr lang="en-AU" sz="2000" dirty="0" smtClean="0">
                <a:solidFill>
                  <a:schemeClr val="bg2">
                    <a:lumMod val="50000"/>
                  </a:schemeClr>
                </a:solidFill>
                <a:latin typeface="Helvetica" charset="0"/>
                <a:ea typeface="Helvetica" charset="0"/>
                <a:cs typeface="Helvetica" charset="0"/>
              </a:rPr>
              <a:t>If you get the key out, return it immediately on finishing! You’ll be held responsible for the lab while you have the key</a:t>
            </a:r>
          </a:p>
          <a:p>
            <a:pPr lvl="1">
              <a:buFont typeface="Arial" charset="0"/>
              <a:buChar char="•"/>
            </a:pPr>
            <a:r>
              <a:rPr lang="en-AU" sz="2000" dirty="0" smtClean="0">
                <a:solidFill>
                  <a:schemeClr val="bg2">
                    <a:lumMod val="50000"/>
                  </a:schemeClr>
                </a:solidFill>
                <a:latin typeface="Helvetica" charset="0"/>
                <a:ea typeface="Helvetica" charset="0"/>
                <a:cs typeface="Helvetica" charset="0"/>
              </a:rPr>
              <a:t>If you’re done and no-one else is using the room, get the key and lock up.</a:t>
            </a:r>
          </a:p>
          <a:p>
            <a:pPr>
              <a:buFont typeface="Arial" charset="0"/>
              <a:buChar char="•"/>
            </a:pPr>
            <a:endParaRPr lang="en-US" sz="2200" dirty="0">
              <a:solidFill>
                <a:schemeClr val="bg2">
                  <a:lumMod val="50000"/>
                </a:schemeClr>
              </a:solidFill>
              <a:latin typeface="Helvetica" charset="0"/>
              <a:ea typeface="Helvetica" charset="0"/>
              <a:cs typeface="Helvetica" charset="0"/>
            </a:endParaRPr>
          </a:p>
        </p:txBody>
      </p:sp>
    </p:spTree>
    <p:extLst>
      <p:ext uri="{BB962C8B-B14F-4D97-AF65-F5344CB8AC3E}">
        <p14:creationId xmlns:p14="http://schemas.microsoft.com/office/powerpoint/2010/main" val="42305720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964</TotalTime>
  <Words>987</Words>
  <Application>Microsoft Macintosh PowerPoint</Application>
  <PresentationFormat>Custom</PresentationFormat>
  <Paragraphs>177</Paragraphs>
  <Slides>28</Slides>
  <Notes>12</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 Lab 5  Presenting research and running the testing session</vt:lpstr>
      <vt:lpstr>Presenting Research </vt:lpstr>
      <vt:lpstr>Why present research? </vt:lpstr>
      <vt:lpstr>Format of your presentation </vt:lpstr>
      <vt:lpstr>Maximize Interest</vt:lpstr>
      <vt:lpstr>Maximize Interest</vt:lpstr>
      <vt:lpstr>Maximize Interest</vt:lpstr>
      <vt:lpstr>Maximize Interest</vt:lpstr>
      <vt:lpstr>Maximize Understanding</vt:lpstr>
      <vt:lpstr>Introduction</vt:lpstr>
      <vt:lpstr>Method</vt:lpstr>
      <vt:lpstr>Results</vt:lpstr>
      <vt:lpstr>Results</vt:lpstr>
      <vt:lpstr>PowerPoint Presentation</vt:lpstr>
      <vt:lpstr>Don’t overload your audience</vt:lpstr>
      <vt:lpstr>  Lou’s tips to avoid DISASTER</vt:lpstr>
      <vt:lpstr>Let’s see an example from Steve Jobs</vt:lpstr>
      <vt:lpstr>Learning from Steve</vt:lpstr>
      <vt:lpstr>Running the testing session </vt:lpstr>
      <vt:lpstr>Scheduling </vt:lpstr>
      <vt:lpstr>Starting the session</vt:lpstr>
      <vt:lpstr>Running the session</vt:lpstr>
      <vt:lpstr>Participant sheet</vt:lpstr>
      <vt:lpstr>The tasks</vt:lpstr>
      <vt:lpstr>What to say while testing</vt:lpstr>
      <vt:lpstr>Debrief</vt:lpstr>
      <vt:lpstr>Testing Location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PSYC3310</dc:title>
  <dc:creator>Nichola Burton</dc:creator>
  <cp:lastModifiedBy>Foo Yong Zhi</cp:lastModifiedBy>
  <cp:revision>87</cp:revision>
  <dcterms:created xsi:type="dcterms:W3CDTF">2016-08-05T09:11:16Z</dcterms:created>
  <dcterms:modified xsi:type="dcterms:W3CDTF">2017-09-07T14:23:10Z</dcterms:modified>
</cp:coreProperties>
</file>