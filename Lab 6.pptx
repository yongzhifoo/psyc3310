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tiff" ContentType="image/tiff"/>
  <Default Extension="emf" ContentType="image/x-emf"/>
  <Default Extension="jpeg" ContentType="image/jpeg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24"/>
  </p:notesMasterIdLst>
  <p:sldIdLst>
    <p:sldId id="285" r:id="rId2"/>
    <p:sldId id="286" r:id="rId3"/>
    <p:sldId id="257" r:id="rId4"/>
    <p:sldId id="258" r:id="rId5"/>
    <p:sldId id="259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3" r:id="rId22"/>
    <p:sldId id="30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FF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88"/>
    <p:restoredTop sz="99497" autoAdjust="0"/>
  </p:normalViewPr>
  <p:slideViewPr>
    <p:cSldViewPr snapToGrid="0" snapToObjects="1">
      <p:cViewPr>
        <p:scale>
          <a:sx n="63" d="100"/>
          <a:sy n="63" d="100"/>
        </p:scale>
        <p:origin x="-2200" y="-13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interSettings" Target="printerSettings/printerSettings1.bin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425AE-AD16-5942-84CD-3179FB7C9CF5}" type="datetimeFigureOut">
              <a:rPr lang="en-US" smtClean="0"/>
              <a:t>22/09/17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815CFF-B998-1A4F-8D57-043D3583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22/09/17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22/09/17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22/09/17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22/09/17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22/09/17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22/09/17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22/09/17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22/09/17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22/09/17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22/09/17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22/09/17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750A6-B02F-594D-B093-53C8AEB54CA1}" type="datetimeFigureOut">
              <a:rPr lang="en-US" smtClean="0"/>
              <a:t>22/09/17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tif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83915" cy="28617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0" y="4368800"/>
            <a:ext cx="4457700" cy="248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21465" y="2472267"/>
            <a:ext cx="7357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 smtClean="0">
                <a:solidFill>
                  <a:schemeClr val="bg2">
                    <a:lumMod val="50000"/>
                  </a:schemeClr>
                </a:solidFill>
                <a:latin typeface="Arial Narrow" charset="0"/>
                <a:ea typeface="Arial Narrow" charset="0"/>
                <a:cs typeface="Arial Narrow" charset="0"/>
              </a:rPr>
              <a:t>EMOTION SCIENCE</a:t>
            </a:r>
            <a:endParaRPr lang="en-US" sz="7200" b="1" dirty="0">
              <a:solidFill>
                <a:schemeClr val="bg2">
                  <a:lumMod val="50000"/>
                </a:schemeClr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3557937"/>
            <a:ext cx="12192000" cy="23463"/>
          </a:xfrm>
          <a:prstGeom prst="line">
            <a:avLst/>
          </a:prstGeom>
          <a:ln w="47625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46185" y="3672596"/>
            <a:ext cx="1699632" cy="87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  <a:latin typeface="Zapfino" charset="0"/>
                <a:ea typeface="Zapfino" charset="0"/>
                <a:cs typeface="Zapfino" charset="0"/>
              </a:rPr>
              <a:t>Psyc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Zapfino" charset="0"/>
                <a:ea typeface="Zapfino" charset="0"/>
                <a:cs typeface="Zapfino" charset="0"/>
              </a:rPr>
              <a:t> 3310</a:t>
            </a:r>
            <a:endParaRPr lang="en-US" dirty="0">
              <a:solidFill>
                <a:schemeClr val="bg2">
                  <a:lumMod val="50000"/>
                </a:schemeClr>
              </a:solidFill>
              <a:latin typeface="Zapfino" charset="0"/>
              <a:ea typeface="Zapfino" charset="0"/>
              <a:cs typeface="Zapfin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4055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4635" y="4640254"/>
            <a:ext cx="8915400" cy="1726106"/>
          </a:xfrm>
        </p:spPr>
        <p:txBody>
          <a:bodyPr>
            <a:noAutofit/>
          </a:bodyPr>
          <a:lstStyle/>
          <a:p>
            <a:pPr algn="l"/>
            <a:r>
              <a:rPr lang="en-US" sz="5400" b="1" dirty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t/>
            </a:r>
            <a:br>
              <a:rPr lang="en-US" sz="5400" b="1" dirty="0" smtClean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Lab 6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</a:b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Introduction and Methods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89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Your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Research Report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	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Research Proposal +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Romina’s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feedback and suggestions for improvement stands you in good stead for the Research Report </a:t>
            </a: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Clean slate and raised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expectations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!</a:t>
            </a: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Therefore, this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week: Refresher on Introduction and Methods</a:t>
            </a:r>
          </a:p>
        </p:txBody>
      </p:sp>
    </p:spTree>
    <p:extLst>
      <p:ext uri="{BB962C8B-B14F-4D97-AF65-F5344CB8AC3E}">
        <p14:creationId xmlns:p14="http://schemas.microsoft.com/office/powerpoint/2010/main" val="14093328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Abstract</a:t>
            </a: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1 paragraph 150 words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.</a:t>
            </a: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Describe </a:t>
            </a:r>
            <a:r>
              <a:rPr lang="en-US" b="1" i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briefly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four main sections of your report:</a:t>
            </a: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Define the research problem </a:t>
            </a:r>
          </a:p>
          <a:p>
            <a:pPr lvl="2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i.e. Give the specific reasons (logically) as to why you’re  doing your study</a:t>
            </a: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Outline your research method </a:t>
            </a:r>
          </a:p>
          <a:p>
            <a:pPr lvl="2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i.e. what you measured</a:t>
            </a: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Describe the key findings</a:t>
            </a: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Discuss the implications. </a:t>
            </a:r>
          </a:p>
        </p:txBody>
      </p:sp>
    </p:spTree>
    <p:extLst>
      <p:ext uri="{BB962C8B-B14F-4D97-AF65-F5344CB8AC3E}">
        <p14:creationId xmlns:p14="http://schemas.microsoft.com/office/powerpoint/2010/main" val="14580707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Introduction 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-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APA tips 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	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No “Introduction” heading. </a:t>
            </a:r>
            <a:endParaRPr lang="en-US" dirty="0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Repeat full title of report,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centered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, at top of page. </a:t>
            </a:r>
          </a:p>
          <a:p>
            <a:pPr>
              <a:buFont typeface="Arial" charset="0"/>
              <a:buChar char="•"/>
            </a:pPr>
            <a:endParaRPr lang="en-US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r>
              <a:rPr lang="en-US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Remember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running head and page number at top of each page. </a:t>
            </a:r>
          </a:p>
          <a:p>
            <a:pPr>
              <a:buFont typeface="Arial" charset="0"/>
              <a:buChar char="•"/>
            </a:pPr>
            <a:endParaRPr lang="en-US" sz="2600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6148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Introduction 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-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what to include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	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In the introduction you need to (in this order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):</a:t>
            </a: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b="1" i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WHY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is your research important?</a:t>
            </a:r>
          </a:p>
          <a:p>
            <a:pPr lvl="2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Introduce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the broad topic </a:t>
            </a:r>
          </a:p>
          <a:p>
            <a:pPr lvl="2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Use relevant past research to develop a clear argument.</a:t>
            </a:r>
          </a:p>
          <a:p>
            <a:pPr lvl="1">
              <a:buFont typeface="Arial" charset="0"/>
              <a:buChar char="•"/>
            </a:pPr>
            <a:r>
              <a:rPr lang="en-US" b="1" i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WHAT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has been done?</a:t>
            </a:r>
          </a:p>
          <a:p>
            <a:pPr lvl="1">
              <a:buFont typeface="Arial" charset="0"/>
              <a:buChar char="•"/>
            </a:pPr>
            <a:r>
              <a:rPr lang="en-US" b="1" i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WHAT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needs to be done?</a:t>
            </a:r>
          </a:p>
          <a:p>
            <a:pPr lvl="2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Identify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how your research will contribute beyond what is already known</a:t>
            </a:r>
          </a:p>
          <a:p>
            <a:pPr lvl="1">
              <a:buFont typeface="Arial" charset="0"/>
              <a:buChar char="•"/>
            </a:pPr>
            <a:r>
              <a:rPr lang="en-US" b="1" i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WHAT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are you doing in your study?</a:t>
            </a:r>
          </a:p>
          <a:p>
            <a:pPr lvl="2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State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your research aims </a:t>
            </a:r>
          </a:p>
          <a:p>
            <a:pPr lvl="2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Outline your hypotheses</a:t>
            </a:r>
          </a:p>
        </p:txBody>
      </p:sp>
    </p:spTree>
    <p:extLst>
      <p:ext uri="{BB962C8B-B14F-4D97-AF65-F5344CB8AC3E}">
        <p14:creationId xmlns:p14="http://schemas.microsoft.com/office/powerpoint/2010/main" val="1064042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1. Introducing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broad topic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In your first section you need to set the scene for your reader by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:</a:t>
            </a: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Introducing general theoretical framework that underpins your study and define any key terms used. </a:t>
            </a:r>
            <a:endParaRPr lang="en-US" dirty="0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Not moving too quickly into specifics of your study</a:t>
            </a:r>
          </a:p>
        </p:txBody>
      </p:sp>
    </p:spTree>
    <p:extLst>
      <p:ext uri="{BB962C8B-B14F-4D97-AF65-F5344CB8AC3E}">
        <p14:creationId xmlns:p14="http://schemas.microsoft.com/office/powerpoint/2010/main" val="19559301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2. Developing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clear argument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Following logically from the first paragraph where you outlined the wider topic, for second section you will need to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:</a:t>
            </a: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Use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relevant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past research to develop strong, clear and logical argument for why you are doing your study. </a:t>
            </a:r>
          </a:p>
        </p:txBody>
      </p:sp>
    </p:spTree>
    <p:extLst>
      <p:ext uri="{BB962C8B-B14F-4D97-AF65-F5344CB8AC3E}">
        <p14:creationId xmlns:p14="http://schemas.microsoft.com/office/powerpoint/2010/main" val="12416284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2. Developing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clear argument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Some tips on how to do this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:</a:t>
            </a: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Read widely but strategically, don’t overwhelm yourself (or procrastinate!) reading irrelevant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studies</a:t>
            </a:r>
          </a:p>
          <a:p>
            <a:pPr lvl="1"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Stay focused on your argument </a:t>
            </a:r>
            <a:endParaRPr lang="en-US" dirty="0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Make sure your argument flows through each paragraph and that each paragraph links logically to the next one. </a:t>
            </a:r>
          </a:p>
        </p:txBody>
      </p:sp>
    </p:spTree>
    <p:extLst>
      <p:ext uri="{BB962C8B-B14F-4D97-AF65-F5344CB8AC3E}">
        <p14:creationId xmlns:p14="http://schemas.microsoft.com/office/powerpoint/2010/main" val="9512654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3. Identifying how your study will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add to the current knowledge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This third section is where you need to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:</a:t>
            </a: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Consider what has been learned from the research you have presented… And clearly state how your study is going to contribute something new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.</a:t>
            </a:r>
          </a:p>
          <a:p>
            <a:pPr lvl="1">
              <a:buFont typeface="Arial" charset="0"/>
              <a:buChar char="•"/>
            </a:pPr>
            <a:endParaRPr lang="en-US" dirty="0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Establish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the research question(or questions) that still needs to be answered and how the results of your study have the potential to address this question. </a:t>
            </a:r>
          </a:p>
        </p:txBody>
      </p:sp>
    </p:spTree>
    <p:extLst>
      <p:ext uri="{BB962C8B-B14F-4D97-AF65-F5344CB8AC3E}">
        <p14:creationId xmlns:p14="http://schemas.microsoft.com/office/powerpoint/2010/main" val="11399728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3. Identifying how your study will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add to the current knowledge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Remember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…</a:t>
            </a: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This is one (small) study among many, we’re not trying to save the world or win a Nobel prize ;-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)</a:t>
            </a:r>
          </a:p>
          <a:p>
            <a:pPr lvl="1"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By now your intro should have provided a clear rationale for the aims of your study.</a:t>
            </a:r>
          </a:p>
        </p:txBody>
      </p:sp>
    </p:spTree>
    <p:extLst>
      <p:ext uri="{BB962C8B-B14F-4D97-AF65-F5344CB8AC3E}">
        <p14:creationId xmlns:p14="http://schemas.microsoft.com/office/powerpoint/2010/main" val="16139010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4. Stating your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research 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In this section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:</a:t>
            </a: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Be very specific, tell the reader exactly what you are investigating and why. </a:t>
            </a:r>
            <a:endParaRPr lang="en-US" dirty="0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Briefly outline the methodology you will be using to achieve your research aims</a:t>
            </a:r>
          </a:p>
        </p:txBody>
      </p:sp>
    </p:spTree>
    <p:extLst>
      <p:ext uri="{BB962C8B-B14F-4D97-AF65-F5344CB8AC3E}">
        <p14:creationId xmlns:p14="http://schemas.microsoft.com/office/powerpoint/2010/main" val="9819524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5. Outlining your </a:t>
            </a:r>
            <a:r>
              <a:rPr lang="en-US" b="1" dirty="0">
                <a:solidFill>
                  <a:srgbClr val="2F5597"/>
                </a:solidFill>
                <a:latin typeface="Helvetica" charset="0"/>
                <a:ea typeface="Helvetica" charset="0"/>
                <a:cs typeface="Helvetica" charset="0"/>
              </a:rPr>
              <a:t>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Finally, state your hypotheses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:</a:t>
            </a: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This is where you are most specific: state exactly what you thought the study would discover. </a:t>
            </a:r>
            <a:endParaRPr lang="en-US" dirty="0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Your hypotheses need to.. </a:t>
            </a:r>
          </a:p>
          <a:p>
            <a:pPr lvl="2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follow logically from your review of the literature and from the research aims. </a:t>
            </a:r>
          </a:p>
          <a:p>
            <a:pPr lvl="2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include quantifiable measures that can be tested. </a:t>
            </a:r>
          </a:p>
          <a:p>
            <a:pPr lvl="2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be written in the past tense. </a:t>
            </a:r>
          </a:p>
        </p:txBody>
      </p:sp>
    </p:spTree>
    <p:extLst>
      <p:ext uri="{BB962C8B-B14F-4D97-AF65-F5344CB8AC3E}">
        <p14:creationId xmlns:p14="http://schemas.microsoft.com/office/powerpoint/2010/main" val="17336603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5597"/>
                </a:solidFill>
                <a:latin typeface="Helvetica" charset="0"/>
                <a:ea typeface="Helvetica" charset="0"/>
                <a:cs typeface="Helvetica" charset="0"/>
              </a:rPr>
              <a:t>Method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section</a:t>
            </a:r>
            <a:endParaRPr lang="en-US" b="1" dirty="0">
              <a:solidFill>
                <a:srgbClr val="2F5597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You already have most of the information needed for this section, so you could start writing it up now..</a:t>
            </a:r>
          </a:p>
        </p:txBody>
      </p:sp>
    </p:spTree>
    <p:extLst>
      <p:ext uri="{BB962C8B-B14F-4D97-AF65-F5344CB8AC3E}">
        <p14:creationId xmlns:p14="http://schemas.microsoft.com/office/powerpoint/2010/main" val="37664833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Method 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section -</a:t>
            </a:r>
            <a:r>
              <a:rPr lang="en-US" b="1" dirty="0" smtClean="0">
                <a:solidFill>
                  <a:srgbClr val="2F5597"/>
                </a:solidFill>
                <a:latin typeface="Helvetica" charset="0"/>
                <a:ea typeface="Helvetica" charset="0"/>
                <a:cs typeface="Helvetica" charset="0"/>
              </a:rPr>
              <a:t> </a:t>
            </a:r>
            <a:r>
              <a:rPr lang="en-US" b="1" dirty="0">
                <a:solidFill>
                  <a:srgbClr val="2F5597"/>
                </a:solidFill>
                <a:latin typeface="Helvetica" charset="0"/>
                <a:ea typeface="Helvetica" charset="0"/>
                <a:cs typeface="Helvetica" charset="0"/>
              </a:rPr>
              <a:t>APA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Follows on from introduction with heading “Method” in upper and lowercase,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centred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and in boldface. 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Should be written in past tense. 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Usually contains three subsections:</a:t>
            </a:r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Participants</a:t>
            </a:r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Measures </a:t>
            </a:r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Procedure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Start each of these subsections with their heading </a:t>
            </a:r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Flush left, bold, in upper and lowercase. </a:t>
            </a:r>
          </a:p>
        </p:txBody>
      </p:sp>
    </p:spTree>
    <p:extLst>
      <p:ext uri="{BB962C8B-B14F-4D97-AF65-F5344CB8AC3E}">
        <p14:creationId xmlns:p14="http://schemas.microsoft.com/office/powerpoint/2010/main" val="3059607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Method: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Participants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Describe major demographic variables such as age, sex, level of education and nationality. </a:t>
            </a:r>
          </a:p>
        </p:txBody>
      </p:sp>
    </p:spTree>
    <p:extLst>
      <p:ext uri="{BB962C8B-B14F-4D97-AF65-F5344CB8AC3E}">
        <p14:creationId xmlns:p14="http://schemas.microsoft.com/office/powerpoint/2010/main" val="1992330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Method: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Measures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Cover all tests used to collect data during study i.e. </a:t>
            </a:r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surveys, questionnaires, timed tests, etc.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Cite sources of your tests. 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If tests are standard, brief description is sufficient. 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Explain tests you have developed yourself in greater detail.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Explain scales used to determine scores for questionnaires and how scores are calculated.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Also briefly mention research that supports the reliability and validity of your tests and questionnaires. </a:t>
            </a:r>
          </a:p>
        </p:txBody>
      </p:sp>
    </p:spTree>
    <p:extLst>
      <p:ext uri="{BB962C8B-B14F-4D97-AF65-F5344CB8AC3E}">
        <p14:creationId xmlns:p14="http://schemas.microsoft.com/office/powerpoint/2010/main" val="39737235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Method: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Procedure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Describe, step by step, how you carried out the study. 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Standardized testing procedures can be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summarised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briefly, new procedures developed for your study should be explained in more detail.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Information in this section should be sufficient enough so that the reader could repeat your tests using exactly the same procedures. </a:t>
            </a:r>
          </a:p>
        </p:txBody>
      </p:sp>
    </p:spTree>
    <p:extLst>
      <p:ext uri="{BB962C8B-B14F-4D97-AF65-F5344CB8AC3E}">
        <p14:creationId xmlns:p14="http://schemas.microsoft.com/office/powerpoint/2010/main" val="25554912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Method: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Procedure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Figures can be useful for tricky procedures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517" y="2672398"/>
            <a:ext cx="4613200" cy="402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8718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9248-a-wireless-mouse-isolated-on-a-white-background-pv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400" y="1825625"/>
            <a:ext cx="8422006" cy="56088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 </a:t>
            </a:r>
            <a:r>
              <a:rPr lang="en-US" b="1" dirty="0" err="1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behavioural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measure</a:t>
            </a:r>
            <a:r>
              <a:rPr lang="is-I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…...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Approach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voidance Task (AAT)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1939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 </a:t>
            </a:r>
            <a:r>
              <a:rPr lang="en-US" b="1" dirty="0" err="1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behavioural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measure</a:t>
            </a:r>
            <a:r>
              <a:rPr lang="is-I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…...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225" y="1458000"/>
            <a:ext cx="10458735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7915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Next time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No lab over the mid-semester break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 will still be around for testing emergencies!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Following week: Results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42452623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1067</TotalTime>
  <Words>874</Words>
  <Application>Microsoft Macintosh PowerPoint</Application>
  <PresentationFormat>Custom</PresentationFormat>
  <Paragraphs>116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 Lab 6  Introduction and Methods</vt:lpstr>
      <vt:lpstr>Your Research Report </vt:lpstr>
      <vt:lpstr>Abstract</vt:lpstr>
      <vt:lpstr>Introduction - APA tips  </vt:lpstr>
      <vt:lpstr>Introduction - what to include </vt:lpstr>
      <vt:lpstr>1. Introducing the broad topic</vt:lpstr>
      <vt:lpstr>2. Developing a clear argument</vt:lpstr>
      <vt:lpstr>2. Developing a clear argument</vt:lpstr>
      <vt:lpstr>3. Identifying how your study will add to the current knowledge </vt:lpstr>
      <vt:lpstr>3. Identifying how your study will add to the current knowledge </vt:lpstr>
      <vt:lpstr>4. Stating your research aims</vt:lpstr>
      <vt:lpstr>5. Outlining your hypotheses</vt:lpstr>
      <vt:lpstr>Method section</vt:lpstr>
      <vt:lpstr>Method section - APA tips</vt:lpstr>
      <vt:lpstr>Method: Participants</vt:lpstr>
      <vt:lpstr>Method: Measures</vt:lpstr>
      <vt:lpstr>Method: Procedure</vt:lpstr>
      <vt:lpstr>Method: Procedure</vt:lpstr>
      <vt:lpstr>A behavioural measure…...</vt:lpstr>
      <vt:lpstr>A behavioural measure…...</vt:lpstr>
      <vt:lpstr>Next time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PSYC3310</dc:title>
  <dc:creator>Nichola Burton</dc:creator>
  <cp:lastModifiedBy>Foo Yong Zhi</cp:lastModifiedBy>
  <cp:revision>102</cp:revision>
  <dcterms:created xsi:type="dcterms:W3CDTF">2016-08-05T09:11:16Z</dcterms:created>
  <dcterms:modified xsi:type="dcterms:W3CDTF">2017-09-21T16:26:09Z</dcterms:modified>
</cp:coreProperties>
</file>